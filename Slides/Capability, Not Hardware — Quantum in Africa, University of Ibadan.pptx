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TALK SCRIPT IS A SEPARATE DOC — these notes are the beats only. (0:00-2:00) Thank the organisers and the department by name. Thank Ibadan: Nigeria's first university. Two sentences on yourself: Head of Strategy and Development at AQC, based in France, working on how African quantum work gets funded, partnered and taken seriously. The frame: you have spent three weeks learning quantum. I am here with the harder question our own research has been chewing on for two years. Not when Africa buys a quantum computer, but which capabilities African institutions should hold, by when, and in what order. Everything tonight comes from three published pieces of our own work: the ASFAP quantum chapter, our post-quantum whitepaper, and the paper going to the African Academy of Sciences next month. Run of show: about 50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(2:00-7:00) Four questions, one slide. Which capabilities must exist locally. Which can be shared across borders. Which can be accessed internationally. And who is responsible for each. Walk each: local = trained people, teaching, maintenance. Shared = testbeds, labs, cohorts, standards seats. Accessed = cloud machines, global schools, partner labs; genuinely useful. Owned = where most plans die. The line to land: a capability with no named owner is a wish. We come back to owners four times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(7:00-11:00) Say each, then unpack in one or two sentences. These do not change, from a government stage in Copenhagen to this room. Capacity before capital: people and community first, so money arrives to find something already running. The community wrote this: Africa's quantum strategy chapter was written by African and diaspora researchers, named. Not bought from a consultancy. A voice in the rules: the standards every connected network will follow are being written now. We want African names inside those rooms, which is not the same as African attendance at conferences. In French if it helps: les gens d'abord, l'argent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(11:00-17:00) Be precise; the honest version is stronger. These are not legal deadlines for African states. Nobody in Brussels can fine this university. Say that plainly — overselling is how credibility dies. They are interoperability, procurement and vendor signals. Your bank talks to correspondent banks bound by them. Your telecom buys from vendors building to them. When the systems you connect to move, you move — on their timetable or on a worse one. The asymmetry: quantum computing is long-horizon, and nobody should promise you a machine. Post-quantum migration is not. Standards published, tools available, work begun elsewhere. That is why it carries most of tonight's practical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(17:00-22:00) From our own whitepaper. The most useful arithmetic in the field. Three numbers, then run it live on a national identity record: X is a lifetime. Y, for a national system with vendors and procurement, is years. Add them. You do not need to agree with anyone's Z for the sum to fail. Then the consequence that drives everything: you cannot estimate Y until you know where your institution uses public-key cryptography. Nobody knows that from memory. That is why inventory is step one everywhere, and why it costs nothing but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(22:00-28:00) Local, with public numbers only. 137 million enrolled in the national identity database. Under the NIMC Act 2026, the identity commission is the root certificate authority for national digital infrastructure — a national root of trust built this decade. And sub-Saharan Africa is the most active mobile-money region on earth; most of 2025's new registered and active accounts came from here. The claim is narrow and hard to dismiss: cryptographic inventory, crypto-agility and migration planning now belong in ordinary infrastructure governance, like backups and disaster recovery. In our framework a country with large financial, telecom and government networks enters cyber-readiness-led. That is Nigeria's door, and it is open now. DO NOT name any system as vulnerable, or improvise about NITDA, CBN or any operator's posture.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(28:00-35:00) The hinge of the paper. If they remember one slide, make it this. People are not an institution: a country can have brilliant researchers and no national programme. Access is not control: students can hold free cloud accounts while the university holds no agreement. Three forms of access — personal, relationship-based, institutional. All useful; only the third survives when the person leaves. Wits has held an institutional agreement since 2019; that is the precedent worth studying. A mention is not an instrument: a ministry can name a technology with no budget line, no procurement rule, no date. Count instruments — funding lines, dated migration plans, access agreements, curriculum pathways, standards delegations. Attendance is not representation: count comments filed, drafts written, tests run, code maintained. Everyone can be in a photograph. This is why we publish no league table and no readiness score. We count instruments.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(35:00-41:00) The heart of the paper, presented as we wrote it — a hypothesis with its own falsification test. Most strategies assume infrastructure first, then talent, then policy. That is right where an institution can justify early capital. It is not the only starting point. Where capital is scarce but people and open access exist: community and coordination, then policy and standards voice, then institutional agreements, then shared infrastructure. The modest claim: coordination can precede capital and makes later infrastructure decisions better informed. It does NOT claim community automatically produces infrastructure. The test we published: by 2030, if countries following this sequence have not produced more durable access, funded technical work or policy instruments, revise or reject it. We wrote that down so someone can hold us to it. One sequence is not a template: South Africa entered research-led because it already had nodes and a funded initiative. Four entry paths exist — research, cyber-readiness, education, application. Nigeria's is cyber-readiness.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(41:00-47:00) The part we are proudest of, because we publish the failures next to the outputs. Five tested, one at design stage. Read the second line of each tile: that is the whole cost. Now give the failure modes aloud, because they are not on the slide. A forum fails when the event happens and no standing owner remains. A cohort fails when completion rests on one volunteer. An alliance fails when it becomes a reading group with no real system. A standards seat fails when a name is listed and no contribution happens. A weekly room fails when breadth is mistaken for depth. The diaspora bridge stays a design until it is funded. And our three repeated failure modes, from our own record: institution before relationship; verbal partnership; single-person dependency. Corrections: build a small piece of work first; write down the output, owner, second and review date; name a second for every critical seat. If you take one instrument home, take the converted cohort. Cheapest, and how most of our people started. Footer numbers: 26 of the 39 hackathon countries were African. Say it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(47:00-53:00) Our central practical proposal, deliberately unglamorous. Walk the seven, each with its owner: capacity map (academy or university coalition), priority note (ministry with researchers and industry), inventory pilot (research network, regulator, bank or government CIO), access pathway (university or research network), talent pathway (universities and societies), representation register (academy, society or ecosystem body), review and budget owner (an executive). Notice: none of those owners is us. We connect, convert and convene. Then the line for a vice-chancellor: none of the seven requires owning a quantum computer, and all seven create the evidence that makes a later infrastructure decision defensible. Finance follows demonstrated capability, not conference visibility and not vendor pressure. Three windows: 2026-27 baseline and ownership; 2028-30 migration and institutionalisation; 2031-35 scale, where the test is whether African institutions can execute, audit and update critical systems with their own staff and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(53:00-58:00) The part the title promised. Every one of these maps to something already shown, not a new idea. Students: the weekly room, a converted cohort, then one issue in an open post-quantum project. That is a standards contribution, and it is counted by name. Lecturers: one recurring module or lab with completion records. Your department can hold it this session without asking anyone's permission. Researchers: co-author the next readiness snapshot. Our papers name every contributor. Security and IT: one bounded inventory, one system. Literally that single artifact would put this institution ahead of most on the continent. Deans: convert a personal or vendor relationship into an agreement held in the university's name, with a named owner. The highest-value signature anyone here can arrange. Everyone: one line tonight about what you want to build. ASK THE ROOM, and take answers: who here owns quantum decisions? Which one system gets the first inventory? Does Ibadan hold access in its own name — and if not, who signs? Which module carries the talent pathway, and who teaches it? What are your two priorities, and what are you deliberately not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(58:00-60:00) Close on the paper's own conclusion, then the ask, then questions. The objective is not to imitate the hardware spending of larger economies. It is to hold the capabilities that let us make our own choices: trained people, durable access, technical evidence, policy instruments, standards participation, strong partnership terms. None of that needs a machine. All of it needs an owner and a date. Then the internship, slowly: the form is open tonight. The work is the files in this talk — indicators, inventory pilots, the partnership checklist, cohorts, forums, communications. Students, recent graduates and career changers across Africa and the diaspora. No quantum degree required. [FARAI / ATADANA to confirm before the talk: duration, hours, stipend, number of places. Promise nothing the form does not state. Never promise pay, visas or a job.] One ask: send the link to one person who should see it. Then the three sentences, and stop. Thank the organisers by name. Take questions. QandA seeds and the do-not-say list are in the script 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1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254696"/>
            <a:ext cx="10566499" cy="474948"/>
          </a:xfrm>
          <a:prstGeom prst="rect">
            <a:avLst/>
          </a:prstGeom>
          <a:noFill/>
          <a:ln/>
        </p:spPr>
        <p:txBody>
          <a:bodyPr wrap="square" lIns="0" tIns="0" rIns="0" bIns="0" rtlCol="0" anchor="t"/>
          <a:lstStyle>
            <a:lvl1pPr algn="l" indent="0" marL="0">
              <a:lnSpc>
                <a:spcPct val="115000"/>
              </a:lnSpc>
              <a:buNone/>
              <a:defRPr lang="en-US" sz="3200" dirty="0">
                <a:solidFill>
                  <a:srgbClr val="0E1A1B"/>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0" y="2034443"/>
            <a:ext cx="10566450" cy="4010757"/>
          </a:xfrm>
          <a:prstGeom prst="rect">
            <a:avLst/>
          </a:prstGeom>
          <a:noFill/>
          <a:ln/>
        </p:spPr>
        <p:txBody>
          <a:bodyPr wrap="square" lIns="0" tIns="0" rIns="0" bIns="0" rtlCol="0" anchor="t"/>
          <a:lstStyle>
            <a:lvl1pPr algn="l" indent="0" marL="0">
              <a:lnSpc>
                <a:spcPct val="140000"/>
              </a:lnSpc>
              <a:buNone/>
              <a:defRPr lang="en-US" sz="1600" dirty="0">
                <a:solidFill>
                  <a:srgbClr val="0E1A1B"/>
                </a:solidFill>
                <a:latin typeface="Montserrat" pitchFamily="34" charset="0"/>
                <a:ea typeface="Montserrat" pitchFamily="34" charset="-122"/>
                <a:cs typeface="Montserra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254696"/>
            <a:ext cx="10566499" cy="474948"/>
          </a:xfrm>
          <a:prstGeom prst="rect">
            <a:avLst/>
          </a:prstGeom>
          <a:noFill/>
          <a:ln/>
        </p:spPr>
        <p:txBody>
          <a:bodyPr wrap="square" lIns="0" tIns="0" rIns="0" bIns="0" rtlCol="0" anchor="t"/>
          <a:lstStyle>
            <a:lvl1pPr algn="l" indent="0" marL="0">
              <a:lnSpc>
                <a:spcPct val="115000"/>
              </a:lnSpc>
              <a:buNone/>
              <a:defRPr lang="en-US" sz="3200" dirty="0">
                <a:solidFill>
                  <a:srgbClr val="0E1A1B"/>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0" y="2034443"/>
            <a:ext cx="10566450" cy="4010757"/>
          </a:xfrm>
          <a:prstGeom prst="rect">
            <a:avLst/>
          </a:prstGeom>
          <a:noFill/>
          <a:ln/>
        </p:spPr>
        <p:txBody>
          <a:bodyPr wrap="square" lIns="0" tIns="0" rIns="0" bIns="0" rtlCol="0" anchor="t"/>
          <a:lstStyle>
            <a:lvl1pPr algn="l" indent="0" marL="0">
              <a:lnSpc>
                <a:spcPct val="140000"/>
              </a:lnSpc>
              <a:buNone/>
              <a:defRPr lang="en-US" sz="1600" dirty="0">
                <a:solidFill>
                  <a:srgbClr val="0E1A1B"/>
                </a:solidFill>
                <a:latin typeface="Montserrat" pitchFamily="34" charset="0"/>
                <a:ea typeface="Montserrat" pitchFamily="34" charset="-122"/>
                <a:cs typeface="Montserrat"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C0C"/>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50C0C"/>
              </a:gs>
              <a:gs pos="55000">
                <a:srgbClr val="0A2A2B"/>
              </a:gs>
              <a:gs pos="100000">
                <a:srgbClr val="0F5A58"/>
              </a:gs>
            </a:gsLst>
            <a:lin ang="2700000" scaled="0"/>
          </a:gradFill>
          <a:ln/>
        </p:spPr>
      </p:sp>
      <p:sp>
        <p:nvSpPr>
          <p:cNvPr id="3" name="Text 1"/>
          <p:cNvSpPr/>
          <p:nvPr/>
        </p:nvSpPr>
        <p:spPr>
          <a:xfrm>
            <a:off x="812750" y="901824"/>
            <a:ext cx="732533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7E3DC"/>
                </a:solidFill>
                <a:latin typeface="Montserrat" pitchFamily="34" charset="0"/>
                <a:ea typeface="Montserrat" pitchFamily="34" charset="-122"/>
                <a:cs typeface="Montserrat" pitchFamily="34" charset="-120"/>
              </a:rPr>
              <a:t>UNIVERSITY OF IBADAN · QISKIT FALL FEST CLOSING</a:t>
            </a:r>
            <a:endParaRPr lang="en-US" sz="1200" dirty="0"/>
          </a:p>
        </p:txBody>
      </p:sp>
      <p:sp>
        <p:nvSpPr>
          <p:cNvPr id="4" name="Text 2"/>
          <p:cNvSpPr/>
          <p:nvPr>
            <p:ph type="title"/>
          </p:nvPr>
        </p:nvSpPr>
        <p:spPr>
          <a:xfrm>
            <a:off x="812750" y="1331044"/>
            <a:ext cx="7325334" cy="2882900"/>
          </a:xfrm>
          <a:prstGeom prst="rect">
            <a:avLst/>
          </a:prstGeom>
          <a:noFill/>
          <a:ln/>
        </p:spPr>
        <p:txBody>
          <a:bodyPr wrap="square" lIns="0" tIns="0" rIns="0" bIns="0" rtlCol="0" anchor="t">
            <a:normAutofit/>
          </a:bodyPr>
          <a:lstStyle/>
          <a:p>
            <a:pPr algn="l" indent="0" marL="0">
              <a:lnSpc>
                <a:spcPts val="7500"/>
              </a:lnSpc>
              <a:buNone/>
            </a:pPr>
            <a:r>
              <a:rPr lang="en-US" sz="7500" b="1" i="0" dirty="0">
                <a:solidFill>
                  <a:srgbClr val="F4FAF9"/>
                </a:solidFill>
                <a:latin typeface="Montserrat" pitchFamily="34" charset="0"/>
                <a:ea typeface="Montserrat" pitchFamily="34" charset="-122"/>
                <a:cs typeface="Montserrat" pitchFamily="34" charset="-120"/>
              </a:rPr>
              <a:t>Capability,</a:t>
            </a:r>
            <a:endParaRPr lang="en-US" sz="7500" dirty="0"/>
          </a:p>
          <a:p>
            <a:pPr algn="l" indent="0" marL="0">
              <a:lnSpc>
                <a:spcPts val="7500"/>
              </a:lnSpc>
              <a:buNone/>
            </a:pPr>
            <a:r>
              <a:rPr lang="en-US" sz="7500" b="1" i="0" dirty="0">
                <a:solidFill>
                  <a:srgbClr val="07E3DC"/>
                </a:solidFill>
                <a:latin typeface="Montserrat" pitchFamily="34" charset="0"/>
                <a:ea typeface="Montserrat" pitchFamily="34" charset="-122"/>
                <a:cs typeface="Montserrat" pitchFamily="34" charset="-120"/>
              </a:rPr>
              <a:t>not hardware.</a:t>
            </a:r>
            <a:endParaRPr lang="en-US" sz="7500" dirty="0"/>
          </a:p>
        </p:txBody>
      </p:sp>
      <p:sp>
        <p:nvSpPr>
          <p:cNvPr id="5" name="Text 3"/>
          <p:cNvSpPr/>
          <p:nvPr/>
        </p:nvSpPr>
        <p:spPr>
          <a:xfrm>
            <a:off x="812750" y="4404420"/>
            <a:ext cx="7325334" cy="660301"/>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EAF4F3"/>
                </a:solidFill>
                <a:latin typeface="Montserrat" pitchFamily="34" charset="0"/>
                <a:ea typeface="Montserrat" pitchFamily="34" charset="-122"/>
                <a:cs typeface="Montserrat" pitchFamily="34" charset="-120"/>
              </a:rPr>
              <a:t>Quantum in Africa, and the openings that are already open.</a:t>
            </a:r>
            <a:endParaRPr lang="en-US" sz="2000" dirty="0"/>
          </a:p>
        </p:txBody>
      </p:sp>
      <p:sp>
        <p:nvSpPr>
          <p:cNvPr id="6" name="Text 4"/>
          <p:cNvSpPr/>
          <p:nvPr/>
        </p:nvSpPr>
        <p:spPr>
          <a:xfrm>
            <a:off x="812750" y="5255196"/>
            <a:ext cx="732533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3C2"/>
                </a:solidFill>
                <a:latin typeface="Poppins" pitchFamily="34" charset="0"/>
                <a:ea typeface="Poppins" pitchFamily="34" charset="-122"/>
                <a:cs typeface="Poppins" pitchFamily="34" charset="-120"/>
              </a:rPr>
              <a:t>Chayma Faraji · Head of Strategy and Development, Africa Quantum Consortium · Friday 09 October 2026</a:t>
            </a:r>
            <a:endParaRPr lang="en-US" sz="1400" dirty="0"/>
          </a:p>
        </p:txBody>
      </p:sp>
      <p:sp>
        <p:nvSpPr>
          <p:cNvPr id="7" name="Shape 5"/>
          <p:cNvSpPr/>
          <p:nvPr/>
        </p:nvSpPr>
        <p:spPr>
          <a:xfrm>
            <a:off x="8254975" y="2222450"/>
            <a:ext cx="3111475" cy="1663675"/>
          </a:xfrm>
          <a:prstGeom prst="roundRect">
            <a:avLst>
              <a:gd name="adj" fmla="val 10687"/>
            </a:avLst>
          </a:prstGeom>
          <a:solidFill>
            <a:srgbClr val="050C0C"/>
          </a:solidFill>
          <a:ln/>
        </p:spPr>
      </p:sp>
      <p:pic>
        <p:nvPicPr>
          <p:cNvPr id="8" name="Image 0" descr="Africa Quantum Consortium logo">    </p:cNvPr>
          <p:cNvPicPr>
            <a:picLocks noChangeAspect="1"/>
          </p:cNvPicPr>
          <p:nvPr/>
        </p:nvPicPr>
        <p:blipFill>
          <a:blip r:embed="rId1"/>
          <a:srcRect l="0" r="0" t="-14" b="-14"/>
          <a:stretch/>
        </p:blipFill>
        <p:spPr>
          <a:xfrm>
            <a:off x="8381926" y="2384375"/>
            <a:ext cx="2857500" cy="1339825"/>
          </a:xfrm>
          <a:prstGeom prst="rect">
            <a:avLst/>
          </a:prstGeom>
        </p:spPr>
      </p:pic>
      <p:sp>
        <p:nvSpPr>
          <p:cNvPr id="9" name="Text 6"/>
          <p:cNvSpPr/>
          <p:nvPr/>
        </p:nvSpPr>
        <p:spPr>
          <a:xfrm>
            <a:off x="812750" y="6217965"/>
            <a:ext cx="3739575"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C2"/>
                </a:solidFill>
                <a:latin typeface="Poppins" pitchFamily="34" charset="0"/>
                <a:ea typeface="Poppins" pitchFamily="34" charset="-122"/>
                <a:cs typeface="Poppins" pitchFamily="34" charset="-120"/>
              </a:rPr>
              <a:t>Forge local strength. Drive global impact.</a:t>
            </a:r>
            <a:endParaRPr lang="en-US" sz="1200" dirty="0"/>
          </a:p>
        </p:txBody>
      </p:sp>
      <p:sp>
        <p:nvSpPr>
          <p:cNvPr id="10" name="Text 7"/>
          <p:cNvSpPr/>
          <p:nvPr/>
        </p:nvSpPr>
        <p:spPr>
          <a:xfrm>
            <a:off x="9646831" y="6217965"/>
            <a:ext cx="1732270"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C2"/>
                </a:solidFill>
                <a:latin typeface="Poppins" pitchFamily="34" charset="0"/>
                <a:ea typeface="Poppins" pitchFamily="34" charset="-122"/>
                <a:cs typeface="Poppins" pitchFamily="34" charset="-120"/>
              </a:rPr>
              <a:t>africaquantum.org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F6B"/>
                </a:solidFill>
                <a:latin typeface="Montserrat" pitchFamily="34" charset="0"/>
                <a:ea typeface="Montserrat" pitchFamily="34" charset="-122"/>
                <a:cs typeface="Montserrat" pitchFamily="34" charset="-120"/>
              </a:rPr>
              <a:t>THE REAL QUESTION</a:t>
            </a:r>
            <a:endParaRPr lang="en-US" sz="1200" dirty="0"/>
          </a:p>
        </p:txBody>
      </p:sp>
      <p:sp>
        <p:nvSpPr>
          <p:cNvPr id="3" name="Text 1"/>
          <p:cNvSpPr/>
          <p:nvPr>
            <p:ph type="title"/>
          </p:nvPr>
        </p:nvSpPr>
        <p:spPr>
          <a:xfrm>
            <a:off x="812750" y="1254696"/>
            <a:ext cx="10883494"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E1A1B"/>
                </a:solidFill>
                <a:latin typeface="Montserrat" pitchFamily="34" charset="0"/>
                <a:ea typeface="Montserrat" pitchFamily="34" charset="-122"/>
                <a:cs typeface="Montserrat" pitchFamily="34" charset="-120"/>
              </a:rPr>
              <a:t>Which capabilities, by when, and who owns each one?</a:t>
            </a:r>
            <a:endParaRPr lang="en-US" sz="3000" dirty="0"/>
          </a:p>
        </p:txBody>
      </p:sp>
      <p:sp>
        <p:nvSpPr>
          <p:cNvPr id="4" name="Shape 2"/>
          <p:cNvSpPr/>
          <p:nvPr/>
        </p:nvSpPr>
        <p:spPr>
          <a:xfrm>
            <a:off x="815925" y="2324671"/>
            <a:ext cx="2530500" cy="1211957"/>
          </a:xfrm>
          <a:prstGeom prst="roundRect">
            <a:avLst>
              <a:gd name="adj" fmla="val 13361"/>
            </a:avLst>
          </a:prstGeom>
          <a:solidFill>
            <a:srgbClr val="FFFFFF"/>
          </a:solidFill>
          <a:ln w="6350">
            <a:solidFill>
              <a:srgbClr val="D5E3E1"/>
            </a:solidFill>
            <a:prstDash val="solid"/>
          </a:ln>
        </p:spPr>
      </p:sp>
      <p:sp>
        <p:nvSpPr>
          <p:cNvPr id="5" name="Text 3"/>
          <p:cNvSpPr/>
          <p:nvPr/>
        </p:nvSpPr>
        <p:spPr>
          <a:xfrm>
            <a:off x="1071488" y="2605608"/>
            <a:ext cx="2079956" cy="346646"/>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0E1A1B"/>
                </a:solidFill>
                <a:latin typeface="Montserrat" pitchFamily="34" charset="0"/>
                <a:ea typeface="Montserrat" pitchFamily="34" charset="-122"/>
                <a:cs typeface="Montserrat" pitchFamily="34" charset="-120"/>
              </a:rPr>
              <a:t>Local</a:t>
            </a:r>
            <a:endParaRPr lang="en-US" sz="2300" dirty="0"/>
          </a:p>
        </p:txBody>
      </p:sp>
      <p:sp>
        <p:nvSpPr>
          <p:cNvPr id="6" name="Text 4"/>
          <p:cNvSpPr/>
          <p:nvPr/>
        </p:nvSpPr>
        <p:spPr>
          <a:xfrm>
            <a:off x="1071488" y="3015704"/>
            <a:ext cx="2079956" cy="26538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E5F"/>
                </a:solidFill>
                <a:latin typeface="Poppins" pitchFamily="34" charset="0"/>
                <a:ea typeface="Poppins" pitchFamily="34" charset="-122"/>
                <a:cs typeface="Poppins" pitchFamily="34" charset="-120"/>
              </a:rPr>
              <a:t>Must exist here</a:t>
            </a:r>
            <a:endParaRPr lang="en-US" sz="1400" dirty="0"/>
          </a:p>
        </p:txBody>
      </p:sp>
      <p:sp>
        <p:nvSpPr>
          <p:cNvPr id="7" name="Shape 5"/>
          <p:cNvSpPr/>
          <p:nvPr/>
        </p:nvSpPr>
        <p:spPr>
          <a:xfrm>
            <a:off x="3492450" y="2324671"/>
            <a:ext cx="2530574" cy="1211957"/>
          </a:xfrm>
          <a:prstGeom prst="roundRect">
            <a:avLst>
              <a:gd name="adj" fmla="val 13361"/>
            </a:avLst>
          </a:prstGeom>
          <a:solidFill>
            <a:srgbClr val="FFFFFF"/>
          </a:solidFill>
          <a:ln w="6350">
            <a:solidFill>
              <a:srgbClr val="D5E3E1"/>
            </a:solidFill>
            <a:prstDash val="solid"/>
          </a:ln>
        </p:spPr>
      </p:sp>
      <p:sp>
        <p:nvSpPr>
          <p:cNvPr id="8" name="Text 6"/>
          <p:cNvSpPr/>
          <p:nvPr/>
        </p:nvSpPr>
        <p:spPr>
          <a:xfrm>
            <a:off x="3748013" y="2605608"/>
            <a:ext cx="2080032" cy="346646"/>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0E1A1B"/>
                </a:solidFill>
                <a:latin typeface="Montserrat" pitchFamily="34" charset="0"/>
                <a:ea typeface="Montserrat" pitchFamily="34" charset="-122"/>
                <a:cs typeface="Montserrat" pitchFamily="34" charset="-120"/>
              </a:rPr>
              <a:t>Shared</a:t>
            </a:r>
            <a:endParaRPr lang="en-US" sz="2300" dirty="0"/>
          </a:p>
        </p:txBody>
      </p:sp>
      <p:sp>
        <p:nvSpPr>
          <p:cNvPr id="9" name="Text 7"/>
          <p:cNvSpPr/>
          <p:nvPr/>
        </p:nvSpPr>
        <p:spPr>
          <a:xfrm>
            <a:off x="3748013" y="3015704"/>
            <a:ext cx="2080032" cy="26538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E5F"/>
                </a:solidFill>
                <a:latin typeface="Poppins" pitchFamily="34" charset="0"/>
                <a:ea typeface="Poppins" pitchFamily="34" charset="-122"/>
                <a:cs typeface="Poppins" pitchFamily="34" charset="-120"/>
              </a:rPr>
              <a:t>Across borders</a:t>
            </a:r>
            <a:endParaRPr lang="en-US" sz="1400" dirty="0"/>
          </a:p>
        </p:txBody>
      </p:sp>
      <p:sp>
        <p:nvSpPr>
          <p:cNvPr id="10" name="Shape 8"/>
          <p:cNvSpPr/>
          <p:nvPr/>
        </p:nvSpPr>
        <p:spPr>
          <a:xfrm>
            <a:off x="6169050" y="2324671"/>
            <a:ext cx="2530500" cy="1211957"/>
          </a:xfrm>
          <a:prstGeom prst="roundRect">
            <a:avLst>
              <a:gd name="adj" fmla="val 13361"/>
            </a:avLst>
          </a:prstGeom>
          <a:solidFill>
            <a:srgbClr val="FFFFFF"/>
          </a:solidFill>
          <a:ln w="6350">
            <a:solidFill>
              <a:srgbClr val="D5E3E1"/>
            </a:solidFill>
            <a:prstDash val="solid"/>
          </a:ln>
        </p:spPr>
      </p:sp>
      <p:sp>
        <p:nvSpPr>
          <p:cNvPr id="11" name="Text 9"/>
          <p:cNvSpPr/>
          <p:nvPr/>
        </p:nvSpPr>
        <p:spPr>
          <a:xfrm>
            <a:off x="6424613" y="2605608"/>
            <a:ext cx="2079956" cy="346646"/>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0E1A1B"/>
                </a:solidFill>
                <a:latin typeface="Montserrat" pitchFamily="34" charset="0"/>
                <a:ea typeface="Montserrat" pitchFamily="34" charset="-122"/>
                <a:cs typeface="Montserrat" pitchFamily="34" charset="-120"/>
              </a:rPr>
              <a:t>Accessed</a:t>
            </a:r>
            <a:endParaRPr lang="en-US" sz="2300" dirty="0"/>
          </a:p>
        </p:txBody>
      </p:sp>
      <p:sp>
        <p:nvSpPr>
          <p:cNvPr id="12" name="Text 10"/>
          <p:cNvSpPr/>
          <p:nvPr/>
        </p:nvSpPr>
        <p:spPr>
          <a:xfrm>
            <a:off x="6424613" y="3015704"/>
            <a:ext cx="2079956" cy="26538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E5F"/>
                </a:solidFill>
                <a:latin typeface="Poppins" pitchFamily="34" charset="0"/>
                <a:ea typeface="Poppins" pitchFamily="34" charset="-122"/>
                <a:cs typeface="Poppins" pitchFamily="34" charset="-120"/>
              </a:rPr>
              <a:t>From abroad</a:t>
            </a:r>
            <a:endParaRPr lang="en-US" sz="1400" dirty="0"/>
          </a:p>
        </p:txBody>
      </p:sp>
      <p:sp>
        <p:nvSpPr>
          <p:cNvPr id="13" name="Shape 11"/>
          <p:cNvSpPr/>
          <p:nvPr/>
        </p:nvSpPr>
        <p:spPr>
          <a:xfrm>
            <a:off x="8845575" y="2324671"/>
            <a:ext cx="2530500" cy="1211957"/>
          </a:xfrm>
          <a:prstGeom prst="roundRect">
            <a:avLst>
              <a:gd name="adj" fmla="val 13361"/>
            </a:avLst>
          </a:prstGeom>
          <a:solidFill>
            <a:srgbClr val="07E3DC"/>
          </a:solidFill>
          <a:ln w="6350">
            <a:solidFill>
              <a:srgbClr val="07E3DC"/>
            </a:solidFill>
            <a:prstDash val="solid"/>
          </a:ln>
        </p:spPr>
      </p:sp>
      <p:sp>
        <p:nvSpPr>
          <p:cNvPr id="14" name="Text 12"/>
          <p:cNvSpPr/>
          <p:nvPr/>
        </p:nvSpPr>
        <p:spPr>
          <a:xfrm>
            <a:off x="9101138" y="2605608"/>
            <a:ext cx="2079956" cy="346646"/>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0A1F20"/>
                </a:solidFill>
                <a:latin typeface="Montserrat" pitchFamily="34" charset="0"/>
                <a:ea typeface="Montserrat" pitchFamily="34" charset="-122"/>
                <a:cs typeface="Montserrat" pitchFamily="34" charset="-120"/>
              </a:rPr>
              <a:t>Owned</a:t>
            </a:r>
            <a:endParaRPr lang="en-US" sz="2300" dirty="0"/>
          </a:p>
        </p:txBody>
      </p:sp>
      <p:sp>
        <p:nvSpPr>
          <p:cNvPr id="15" name="Text 13"/>
          <p:cNvSpPr/>
          <p:nvPr/>
        </p:nvSpPr>
        <p:spPr>
          <a:xfrm>
            <a:off x="9101138" y="3015704"/>
            <a:ext cx="2079956" cy="26538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A1F20"/>
                </a:solidFill>
                <a:latin typeface="Poppins" pitchFamily="34" charset="0"/>
                <a:ea typeface="Poppins" pitchFamily="34" charset="-122"/>
                <a:cs typeface="Poppins" pitchFamily="34" charset="-120"/>
              </a:rPr>
              <a:t>By a named person</a:t>
            </a:r>
            <a:endParaRPr lang="en-US" sz="1400" dirty="0"/>
          </a:p>
        </p:txBody>
      </p:sp>
      <p:sp>
        <p:nvSpPr>
          <p:cNvPr id="16" name="Text 14"/>
          <p:cNvSpPr/>
          <p:nvPr/>
        </p:nvSpPr>
        <p:spPr>
          <a:xfrm>
            <a:off x="812750" y="6217965"/>
            <a:ext cx="3612326"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E5F"/>
                </a:solidFill>
                <a:latin typeface="Poppins" pitchFamily="34" charset="0"/>
                <a:ea typeface="Poppins" pitchFamily="34" charset="-122"/>
                <a:cs typeface="Poppins" pitchFamily="34" charset="-120"/>
              </a:rPr>
              <a:t>Quantum in Africa · University of Ibadan</a:t>
            </a:r>
            <a:endParaRPr lang="en-US" sz="1200" dirty="0"/>
          </a:p>
        </p:txBody>
      </p:sp>
      <p:sp>
        <p:nvSpPr>
          <p:cNvPr id="17" name="Text 15"/>
          <p:cNvSpPr/>
          <p:nvPr/>
        </p:nvSpPr>
        <p:spPr>
          <a:xfrm>
            <a:off x="11240641" y="6217965"/>
            <a:ext cx="138460"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E5F"/>
                </a:solidFill>
                <a:latin typeface="Poppins" pitchFamily="34" charset="0"/>
                <a:ea typeface="Poppins" pitchFamily="34" charset="-122"/>
                <a:cs typeface="Poppi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51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1516"/>
              </a:gs>
              <a:gs pos="100000">
                <a:srgbClr val="0C3334"/>
              </a:gs>
            </a:gsLst>
            <a:lin ang="4200000" scaled="0"/>
          </a:gradFill>
          <a:ln/>
        </p:spPr>
      </p:sp>
      <p:sp>
        <p:nvSpPr>
          <p:cNvPr id="3" name="Text 1"/>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7E3DC"/>
                </a:solidFill>
                <a:latin typeface="Montserrat" pitchFamily="34" charset="0"/>
                <a:ea typeface="Montserrat" pitchFamily="34" charset="-122"/>
                <a:cs typeface="Montserrat" pitchFamily="34" charset="-120"/>
              </a:rPr>
              <a:t>THREE SENTENCES WE NEVER CHANGE</a:t>
            </a:r>
            <a:endParaRPr lang="en-US" sz="1200" dirty="0"/>
          </a:p>
        </p:txBody>
      </p:sp>
      <p:sp>
        <p:nvSpPr>
          <p:cNvPr id="4" name="Text 2"/>
          <p:cNvSpPr/>
          <p:nvPr/>
        </p:nvSpPr>
        <p:spPr>
          <a:xfrm>
            <a:off x="812750" y="2411239"/>
            <a:ext cx="10883494" cy="601439"/>
          </a:xfrm>
          <a:prstGeom prst="rect">
            <a:avLst/>
          </a:prstGeom>
          <a:noFill/>
          <a:ln/>
        </p:spPr>
        <p:txBody>
          <a:bodyPr wrap="square" lIns="0" tIns="0" rIns="0" bIns="0" rtlCol="0" anchor="t">
            <a:normAutofit/>
          </a:bodyPr>
          <a:lstStyle/>
          <a:p>
            <a:pPr algn="l" indent="0" marL="0">
              <a:lnSpc>
                <a:spcPts val="4536"/>
              </a:lnSpc>
              <a:buNone/>
            </a:pPr>
            <a:r>
              <a:rPr lang="en-US" sz="4200" b="1" dirty="0">
                <a:solidFill>
                  <a:srgbClr val="F4FAF9"/>
                </a:solidFill>
                <a:latin typeface="Montserrat" pitchFamily="34" charset="0"/>
                <a:ea typeface="Montserrat" pitchFamily="34" charset="-122"/>
                <a:cs typeface="Montserrat" pitchFamily="34" charset="-120"/>
              </a:rPr>
              <a:t>Capacity before capital.</a:t>
            </a:r>
            <a:endParaRPr lang="en-US" sz="4200" dirty="0"/>
          </a:p>
        </p:txBody>
      </p:sp>
      <p:sp>
        <p:nvSpPr>
          <p:cNvPr id="5" name="Text 3"/>
          <p:cNvSpPr/>
          <p:nvPr/>
        </p:nvSpPr>
        <p:spPr>
          <a:xfrm>
            <a:off x="812750" y="3241253"/>
            <a:ext cx="10883494" cy="601439"/>
          </a:xfrm>
          <a:prstGeom prst="rect">
            <a:avLst/>
          </a:prstGeom>
          <a:noFill/>
          <a:ln/>
        </p:spPr>
        <p:txBody>
          <a:bodyPr wrap="square" lIns="0" tIns="0" rIns="0" bIns="0" rtlCol="0" anchor="t">
            <a:normAutofit/>
          </a:bodyPr>
          <a:lstStyle/>
          <a:p>
            <a:pPr algn="l" indent="0" marL="0">
              <a:lnSpc>
                <a:spcPts val="4536"/>
              </a:lnSpc>
              <a:buNone/>
            </a:pPr>
            <a:r>
              <a:rPr lang="en-US" sz="4200" b="1" dirty="0">
                <a:solidFill>
                  <a:srgbClr val="F4FAF9"/>
                </a:solidFill>
                <a:latin typeface="Montserrat" pitchFamily="34" charset="0"/>
                <a:ea typeface="Montserrat" pitchFamily="34" charset="-122"/>
                <a:cs typeface="Montserrat" pitchFamily="34" charset="-120"/>
              </a:rPr>
              <a:t>The community wrote this.</a:t>
            </a:r>
            <a:endParaRPr lang="en-US" sz="4200" dirty="0"/>
          </a:p>
        </p:txBody>
      </p:sp>
      <p:sp>
        <p:nvSpPr>
          <p:cNvPr id="6" name="Text 4"/>
          <p:cNvSpPr/>
          <p:nvPr/>
        </p:nvSpPr>
        <p:spPr>
          <a:xfrm>
            <a:off x="812750" y="4071268"/>
            <a:ext cx="10883494" cy="601439"/>
          </a:xfrm>
          <a:prstGeom prst="rect">
            <a:avLst/>
          </a:prstGeom>
          <a:noFill/>
          <a:ln/>
        </p:spPr>
        <p:txBody>
          <a:bodyPr wrap="square" lIns="0" tIns="0" rIns="0" bIns="0" rtlCol="0" anchor="t">
            <a:normAutofit/>
          </a:bodyPr>
          <a:lstStyle/>
          <a:p>
            <a:pPr algn="l" indent="0" marL="0">
              <a:lnSpc>
                <a:spcPts val="4536"/>
              </a:lnSpc>
              <a:buNone/>
            </a:pPr>
            <a:r>
              <a:rPr lang="en-US" sz="4200" b="1" dirty="0">
                <a:solidFill>
                  <a:srgbClr val="07E3DC"/>
                </a:solidFill>
                <a:latin typeface="Montserrat" pitchFamily="34" charset="0"/>
                <a:ea typeface="Montserrat" pitchFamily="34" charset="-122"/>
                <a:cs typeface="Montserrat" pitchFamily="34" charset="-120"/>
              </a:rPr>
              <a:t>A voice in the rules.</a:t>
            </a:r>
            <a:endParaRPr lang="en-US" sz="4200" dirty="0"/>
          </a:p>
        </p:txBody>
      </p:sp>
      <p:sp>
        <p:nvSpPr>
          <p:cNvPr id="7" name="Text 5"/>
          <p:cNvSpPr/>
          <p:nvPr/>
        </p:nvSpPr>
        <p:spPr>
          <a:xfrm>
            <a:off x="812750" y="6217965"/>
            <a:ext cx="3612326"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C2"/>
                </a:solidFill>
                <a:latin typeface="Poppins" pitchFamily="34" charset="0"/>
                <a:ea typeface="Poppins" pitchFamily="34" charset="-122"/>
                <a:cs typeface="Poppins" pitchFamily="34" charset="-120"/>
              </a:rPr>
              <a:t>Quantum in Africa · University of Ibadan</a:t>
            </a:r>
            <a:endParaRPr lang="en-US" sz="1200" dirty="0"/>
          </a:p>
        </p:txBody>
      </p:sp>
      <p:sp>
        <p:nvSpPr>
          <p:cNvPr id="8" name="Text 6"/>
          <p:cNvSpPr/>
          <p:nvPr/>
        </p:nvSpPr>
        <p:spPr>
          <a:xfrm>
            <a:off x="11238483" y="6217965"/>
            <a:ext cx="140618"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C2"/>
                </a:solidFill>
                <a:latin typeface="Poppins" pitchFamily="34" charset="0"/>
                <a:ea typeface="Poppins" pitchFamily="34" charset="-122"/>
                <a:cs typeface="Poppi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51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1516"/>
              </a:gs>
              <a:gs pos="100000">
                <a:srgbClr val="0C3334"/>
              </a:gs>
            </a:gsLst>
            <a:lin ang="4200000" scaled="0"/>
          </a:gradFill>
          <a:ln/>
        </p:spPr>
      </p:sp>
      <p:sp>
        <p:nvSpPr>
          <p:cNvPr id="3" name="Text 1"/>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7E3DC"/>
                </a:solidFill>
                <a:latin typeface="Montserrat" pitchFamily="34" charset="0"/>
                <a:ea typeface="Montserrat" pitchFamily="34" charset="-122"/>
                <a:cs typeface="Montserrat" pitchFamily="34" charset="-120"/>
              </a:rPr>
              <a:t>ONE DEADLINE IS ALREADY REAL</a:t>
            </a:r>
            <a:endParaRPr lang="en-US" sz="1200" dirty="0"/>
          </a:p>
        </p:txBody>
      </p:sp>
      <p:sp>
        <p:nvSpPr>
          <p:cNvPr id="4" name="Text 2"/>
          <p:cNvSpPr/>
          <p:nvPr>
            <p:ph type="title"/>
          </p:nvPr>
        </p:nvSpPr>
        <p:spPr>
          <a:xfrm>
            <a:off x="812750" y="1254696"/>
            <a:ext cx="11379250" cy="47240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AF9"/>
                </a:solidFill>
                <a:latin typeface="Montserrat" pitchFamily="34" charset="0"/>
                <a:ea typeface="Montserrat" pitchFamily="34" charset="-122"/>
                <a:cs typeface="Montserrat" pitchFamily="34" charset="-120"/>
              </a:rPr>
              <a:t>Quantum-safe migration: the dates are published</a:t>
            </a:r>
            <a:endParaRPr lang="en-US" sz="3200" dirty="0"/>
          </a:p>
        </p:txBody>
      </p:sp>
      <p:sp>
        <p:nvSpPr>
          <p:cNvPr id="5" name="Shape 3"/>
          <p:cNvSpPr/>
          <p:nvPr/>
        </p:nvSpPr>
        <p:spPr>
          <a:xfrm>
            <a:off x="815925" y="1933476"/>
            <a:ext cx="2540025" cy="3905374"/>
          </a:xfrm>
          <a:prstGeom prst="roundRect">
            <a:avLst>
              <a:gd name="adj" fmla="val 6375"/>
            </a:avLst>
          </a:prstGeom>
          <a:solidFill>
            <a:srgbClr val="143A3A"/>
          </a:solidFill>
          <a:ln w="6350">
            <a:solidFill>
              <a:srgbClr val="1F4B4B"/>
            </a:solidFill>
            <a:prstDash val="solid"/>
          </a:ln>
        </p:spPr>
      </p:sp>
      <p:sp>
        <p:nvSpPr>
          <p:cNvPr id="6" name="Text 4"/>
          <p:cNvSpPr/>
          <p:nvPr/>
        </p:nvSpPr>
        <p:spPr>
          <a:xfrm>
            <a:off x="1008013" y="3446562"/>
            <a:ext cx="2220525" cy="571525"/>
          </a:xfrm>
          <a:prstGeom prst="rect">
            <a:avLst/>
          </a:prstGeom>
          <a:noFill/>
          <a:ln/>
        </p:spPr>
        <p:txBody>
          <a:bodyPr wrap="square" lIns="0" tIns="0" rIns="0" bIns="0" rtlCol="0" anchor="t">
            <a:normAutofit/>
          </a:bodyPr>
          <a:lstStyle/>
          <a:p>
            <a:pPr algn="l" indent="0" marL="0">
              <a:lnSpc>
                <a:spcPts val="4300"/>
              </a:lnSpc>
              <a:buNone/>
            </a:pPr>
            <a:r>
              <a:rPr lang="en-US" sz="4300" b="1" dirty="0">
                <a:solidFill>
                  <a:srgbClr val="07E3DC"/>
                </a:solidFill>
                <a:latin typeface="Montserrat" pitchFamily="34" charset="0"/>
                <a:ea typeface="Montserrat" pitchFamily="34" charset="-122"/>
                <a:cs typeface="Montserrat" pitchFamily="34" charset="-120"/>
              </a:rPr>
              <a:t>2024</a:t>
            </a:r>
            <a:endParaRPr lang="en-US" sz="4300" dirty="0"/>
          </a:p>
        </p:txBody>
      </p:sp>
      <p:sp>
        <p:nvSpPr>
          <p:cNvPr id="7" name="Text 5"/>
          <p:cNvSpPr/>
          <p:nvPr/>
        </p:nvSpPr>
        <p:spPr>
          <a:xfrm>
            <a:off x="1008013" y="4094262"/>
            <a:ext cx="2220525" cy="25682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D3E6E5"/>
                </a:solidFill>
                <a:latin typeface="Poppins" pitchFamily="34" charset="0"/>
                <a:ea typeface="Poppins" pitchFamily="34" charset="-122"/>
                <a:cs typeface="Poppins" pitchFamily="34" charset="-120"/>
              </a:rPr>
              <a:t>Standards published</a:t>
            </a:r>
            <a:endParaRPr lang="en-US" sz="1350" dirty="0"/>
          </a:p>
        </p:txBody>
      </p:sp>
      <p:sp>
        <p:nvSpPr>
          <p:cNvPr id="8" name="Shape 6"/>
          <p:cNvSpPr/>
          <p:nvPr/>
        </p:nvSpPr>
        <p:spPr>
          <a:xfrm>
            <a:off x="3489251" y="1933476"/>
            <a:ext cx="2540099" cy="3905374"/>
          </a:xfrm>
          <a:prstGeom prst="roundRect">
            <a:avLst>
              <a:gd name="adj" fmla="val 6375"/>
            </a:avLst>
          </a:prstGeom>
          <a:solidFill>
            <a:srgbClr val="143A3A"/>
          </a:solidFill>
          <a:ln w="6350">
            <a:solidFill>
              <a:srgbClr val="1F4B4B"/>
            </a:solidFill>
            <a:prstDash val="solid"/>
          </a:ln>
        </p:spPr>
      </p:sp>
      <p:sp>
        <p:nvSpPr>
          <p:cNvPr id="9" name="Text 7"/>
          <p:cNvSpPr/>
          <p:nvPr/>
        </p:nvSpPr>
        <p:spPr>
          <a:xfrm>
            <a:off x="3681338" y="3446562"/>
            <a:ext cx="2220602" cy="571525"/>
          </a:xfrm>
          <a:prstGeom prst="rect">
            <a:avLst/>
          </a:prstGeom>
          <a:noFill/>
          <a:ln/>
        </p:spPr>
        <p:txBody>
          <a:bodyPr wrap="square" lIns="0" tIns="0" rIns="0" bIns="0" rtlCol="0" anchor="t">
            <a:normAutofit/>
          </a:bodyPr>
          <a:lstStyle/>
          <a:p>
            <a:pPr algn="l" indent="0" marL="0">
              <a:lnSpc>
                <a:spcPts val="4300"/>
              </a:lnSpc>
              <a:buNone/>
            </a:pPr>
            <a:r>
              <a:rPr lang="en-US" sz="4300" b="1" dirty="0">
                <a:solidFill>
                  <a:srgbClr val="07E3DC"/>
                </a:solidFill>
                <a:latin typeface="Montserrat" pitchFamily="34" charset="0"/>
                <a:ea typeface="Montserrat" pitchFamily="34" charset="-122"/>
                <a:cs typeface="Montserrat" pitchFamily="34" charset="-120"/>
              </a:rPr>
              <a:t>2026</a:t>
            </a:r>
            <a:endParaRPr lang="en-US" sz="4300" dirty="0"/>
          </a:p>
        </p:txBody>
      </p:sp>
      <p:sp>
        <p:nvSpPr>
          <p:cNvPr id="10" name="Text 8"/>
          <p:cNvSpPr/>
          <p:nvPr/>
        </p:nvSpPr>
        <p:spPr>
          <a:xfrm>
            <a:off x="3681338" y="4094262"/>
            <a:ext cx="2220602" cy="25682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D3E6E5"/>
                </a:solidFill>
                <a:latin typeface="Poppins" pitchFamily="34" charset="0"/>
                <a:ea typeface="Poppins" pitchFamily="34" charset="-122"/>
                <a:cs typeface="Poppins" pitchFamily="34" charset="-120"/>
              </a:rPr>
              <a:t>EU plans due</a:t>
            </a:r>
            <a:endParaRPr lang="en-US" sz="1350" dirty="0"/>
          </a:p>
        </p:txBody>
      </p:sp>
      <p:sp>
        <p:nvSpPr>
          <p:cNvPr id="11" name="Shape 9"/>
          <p:cNvSpPr/>
          <p:nvPr/>
        </p:nvSpPr>
        <p:spPr>
          <a:xfrm>
            <a:off x="6162650" y="1933476"/>
            <a:ext cx="2540025" cy="3905374"/>
          </a:xfrm>
          <a:prstGeom prst="roundRect">
            <a:avLst>
              <a:gd name="adj" fmla="val 6375"/>
            </a:avLst>
          </a:prstGeom>
          <a:solidFill>
            <a:srgbClr val="143A3A"/>
          </a:solidFill>
          <a:ln w="6350">
            <a:solidFill>
              <a:srgbClr val="1F4B4B"/>
            </a:solidFill>
            <a:prstDash val="solid"/>
          </a:ln>
        </p:spPr>
      </p:sp>
      <p:sp>
        <p:nvSpPr>
          <p:cNvPr id="12" name="Text 10"/>
          <p:cNvSpPr/>
          <p:nvPr/>
        </p:nvSpPr>
        <p:spPr>
          <a:xfrm>
            <a:off x="6354738" y="3330848"/>
            <a:ext cx="2220525" cy="571525"/>
          </a:xfrm>
          <a:prstGeom prst="rect">
            <a:avLst/>
          </a:prstGeom>
          <a:noFill/>
          <a:ln/>
        </p:spPr>
        <p:txBody>
          <a:bodyPr wrap="square" lIns="0" tIns="0" rIns="0" bIns="0" rtlCol="0" anchor="t">
            <a:normAutofit/>
          </a:bodyPr>
          <a:lstStyle/>
          <a:p>
            <a:pPr algn="l" indent="0" marL="0">
              <a:lnSpc>
                <a:spcPts val="4300"/>
              </a:lnSpc>
              <a:buNone/>
            </a:pPr>
            <a:r>
              <a:rPr lang="en-US" sz="4300" b="1" dirty="0">
                <a:solidFill>
                  <a:srgbClr val="07E3DC"/>
                </a:solidFill>
                <a:latin typeface="Montserrat" pitchFamily="34" charset="0"/>
                <a:ea typeface="Montserrat" pitchFamily="34" charset="-122"/>
                <a:cs typeface="Montserrat" pitchFamily="34" charset="-120"/>
              </a:rPr>
              <a:t>2030</a:t>
            </a:r>
            <a:endParaRPr lang="en-US" sz="4300" dirty="0"/>
          </a:p>
        </p:txBody>
      </p:sp>
      <p:sp>
        <p:nvSpPr>
          <p:cNvPr id="13" name="Text 11"/>
          <p:cNvSpPr/>
          <p:nvPr/>
        </p:nvSpPr>
        <p:spPr>
          <a:xfrm>
            <a:off x="6354738" y="3978548"/>
            <a:ext cx="2220525" cy="48825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D3E6E5"/>
                </a:solidFill>
                <a:latin typeface="Poppins" pitchFamily="34" charset="0"/>
                <a:ea typeface="Poppins" pitchFamily="34" charset="-122"/>
                <a:cs typeface="Poppins" pitchFamily="34" charset="-120"/>
              </a:rPr>
              <a:t>High-risk systems migrated</a:t>
            </a:r>
            <a:endParaRPr lang="en-US" sz="1350" dirty="0"/>
          </a:p>
        </p:txBody>
      </p:sp>
      <p:sp>
        <p:nvSpPr>
          <p:cNvPr id="14" name="Shape 12"/>
          <p:cNvSpPr/>
          <p:nvPr/>
        </p:nvSpPr>
        <p:spPr>
          <a:xfrm>
            <a:off x="8835975" y="1933476"/>
            <a:ext cx="2540099" cy="3905374"/>
          </a:xfrm>
          <a:prstGeom prst="roundRect">
            <a:avLst>
              <a:gd name="adj" fmla="val 6375"/>
            </a:avLst>
          </a:prstGeom>
          <a:solidFill>
            <a:srgbClr val="143A3A"/>
          </a:solidFill>
          <a:ln w="6350">
            <a:solidFill>
              <a:srgbClr val="1F4B4B"/>
            </a:solidFill>
            <a:prstDash val="solid"/>
          </a:ln>
        </p:spPr>
      </p:sp>
      <p:sp>
        <p:nvSpPr>
          <p:cNvPr id="15" name="Text 13"/>
          <p:cNvSpPr/>
          <p:nvPr/>
        </p:nvSpPr>
        <p:spPr>
          <a:xfrm>
            <a:off x="9028063" y="3446562"/>
            <a:ext cx="2220602" cy="571525"/>
          </a:xfrm>
          <a:prstGeom prst="rect">
            <a:avLst/>
          </a:prstGeom>
          <a:noFill/>
          <a:ln/>
        </p:spPr>
        <p:txBody>
          <a:bodyPr wrap="square" lIns="0" tIns="0" rIns="0" bIns="0" rtlCol="0" anchor="t">
            <a:normAutofit/>
          </a:bodyPr>
          <a:lstStyle/>
          <a:p>
            <a:pPr algn="l" indent="0" marL="0">
              <a:lnSpc>
                <a:spcPts val="4300"/>
              </a:lnSpc>
              <a:buNone/>
            </a:pPr>
            <a:r>
              <a:rPr lang="en-US" sz="4300" b="1" dirty="0">
                <a:solidFill>
                  <a:srgbClr val="07E3DC"/>
                </a:solidFill>
                <a:latin typeface="Montserrat" pitchFamily="34" charset="0"/>
                <a:ea typeface="Montserrat" pitchFamily="34" charset="-122"/>
                <a:cs typeface="Montserrat" pitchFamily="34" charset="-120"/>
              </a:rPr>
              <a:t>2035</a:t>
            </a:r>
            <a:endParaRPr lang="en-US" sz="4300" dirty="0"/>
          </a:p>
        </p:txBody>
      </p:sp>
      <p:sp>
        <p:nvSpPr>
          <p:cNvPr id="16" name="Text 14"/>
          <p:cNvSpPr/>
          <p:nvPr/>
        </p:nvSpPr>
        <p:spPr>
          <a:xfrm>
            <a:off x="9028063" y="4094262"/>
            <a:ext cx="2220602" cy="25682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D3E6E5"/>
                </a:solidFill>
                <a:latin typeface="Poppins" pitchFamily="34" charset="0"/>
                <a:ea typeface="Poppins" pitchFamily="34" charset="-122"/>
                <a:cs typeface="Poppins" pitchFamily="34" charset="-120"/>
              </a:rPr>
              <a:t>Old encryption removed</a:t>
            </a:r>
            <a:endParaRPr lang="en-US" sz="1350" dirty="0"/>
          </a:p>
        </p:txBody>
      </p:sp>
      <p:sp>
        <p:nvSpPr>
          <p:cNvPr id="17" name="Text 15"/>
          <p:cNvSpPr/>
          <p:nvPr/>
        </p:nvSpPr>
        <p:spPr>
          <a:xfrm>
            <a:off x="812750" y="6217965"/>
            <a:ext cx="7650867"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C2"/>
                </a:solidFill>
                <a:latin typeface="Poppins" pitchFamily="34" charset="0"/>
                <a:ea typeface="Poppins" pitchFamily="34" charset="-122"/>
                <a:cs typeface="Poppins" pitchFamily="34" charset="-120"/>
              </a:rPr>
              <a:t>NIST FIPS 203–205 and IR 8547 draft; EU NIS Cooperation Group roadmap, June 2025.</a:t>
            </a:r>
            <a:endParaRPr lang="en-US" sz="1200" dirty="0"/>
          </a:p>
        </p:txBody>
      </p:sp>
      <p:sp>
        <p:nvSpPr>
          <p:cNvPr id="18" name="Text 16"/>
          <p:cNvSpPr/>
          <p:nvPr/>
        </p:nvSpPr>
        <p:spPr>
          <a:xfrm>
            <a:off x="11232381" y="6217965"/>
            <a:ext cx="146720"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C2"/>
                </a:solidFill>
                <a:latin typeface="Poppins" pitchFamily="34" charset="0"/>
                <a:ea typeface="Poppins" pitchFamily="34" charset="-122"/>
                <a:cs typeface="Poppi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F6B"/>
                </a:solidFill>
                <a:latin typeface="Montserrat" pitchFamily="34" charset="0"/>
                <a:ea typeface="Montserrat" pitchFamily="34" charset="-122"/>
                <a:cs typeface="Montserrat" pitchFamily="34" charset="-120"/>
              </a:rPr>
              <a:t>THE PLANNING TEST</a:t>
            </a:r>
            <a:endParaRPr lang="en-US" sz="1200" dirty="0"/>
          </a:p>
        </p:txBody>
      </p:sp>
      <p:sp>
        <p:nvSpPr>
          <p:cNvPr id="3" name="Text 1"/>
          <p:cNvSpPr/>
          <p:nvPr/>
        </p:nvSpPr>
        <p:spPr>
          <a:xfrm>
            <a:off x="812750" y="2807345"/>
            <a:ext cx="5363184" cy="977900"/>
          </a:xfrm>
          <a:prstGeom prst="rect">
            <a:avLst/>
          </a:prstGeom>
          <a:noFill/>
          <a:ln/>
        </p:spPr>
        <p:txBody>
          <a:bodyPr wrap="square" lIns="0" tIns="0" rIns="0" bIns="0" rtlCol="0" anchor="t">
            <a:normAutofit/>
          </a:bodyPr>
          <a:lstStyle/>
          <a:p>
            <a:pPr algn="l" indent="0" marL="0">
              <a:lnSpc>
                <a:spcPts val="7500"/>
              </a:lnSpc>
              <a:buNone/>
            </a:pPr>
            <a:r>
              <a:rPr lang="en-US" sz="7500" b="1" dirty="0">
                <a:solidFill>
                  <a:srgbClr val="0B6F6B"/>
                </a:solidFill>
                <a:latin typeface="Montserrat" pitchFamily="34" charset="0"/>
                <a:ea typeface="Montserrat" pitchFamily="34" charset="-122"/>
                <a:cs typeface="Montserrat" pitchFamily="34" charset="-120"/>
              </a:rPr>
              <a:t>X + Y &gt; Z</a:t>
            </a:r>
            <a:endParaRPr lang="en-US" sz="7500" dirty="0"/>
          </a:p>
        </p:txBody>
      </p:sp>
      <p:sp>
        <p:nvSpPr>
          <p:cNvPr id="4" name="Text 2"/>
          <p:cNvSpPr/>
          <p:nvPr/>
        </p:nvSpPr>
        <p:spPr>
          <a:xfrm>
            <a:off x="812750" y="3937620"/>
            <a:ext cx="5363184" cy="339055"/>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0E1A1B"/>
                </a:solidFill>
                <a:latin typeface="Montserrat" pitchFamily="34" charset="0"/>
                <a:ea typeface="Montserrat" pitchFamily="34" charset="-122"/>
                <a:cs typeface="Montserrat" pitchFamily="34" charset="-120"/>
              </a:rPr>
              <a:t>Then you are already late.</a:t>
            </a:r>
            <a:endParaRPr lang="en-US" sz="1900" dirty="0"/>
          </a:p>
        </p:txBody>
      </p:sp>
      <p:sp>
        <p:nvSpPr>
          <p:cNvPr id="5" name="Shape 3"/>
          <p:cNvSpPr/>
          <p:nvPr/>
        </p:nvSpPr>
        <p:spPr>
          <a:xfrm>
            <a:off x="6505476" y="1578074"/>
            <a:ext cx="4870599" cy="1211957"/>
          </a:xfrm>
          <a:prstGeom prst="roundRect">
            <a:avLst>
              <a:gd name="adj" fmla="val 13361"/>
            </a:avLst>
          </a:prstGeom>
          <a:solidFill>
            <a:srgbClr val="FFFFFF"/>
          </a:solidFill>
          <a:ln w="6350">
            <a:solidFill>
              <a:srgbClr val="D5E3E1"/>
            </a:solidFill>
            <a:prstDash val="solid"/>
          </a:ln>
        </p:spPr>
      </p:sp>
      <p:sp>
        <p:nvSpPr>
          <p:cNvPr id="6" name="Text 4"/>
          <p:cNvSpPr/>
          <p:nvPr/>
        </p:nvSpPr>
        <p:spPr>
          <a:xfrm>
            <a:off x="6761038" y="1859012"/>
            <a:ext cx="4490258" cy="346646"/>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0E1A1B"/>
                </a:solidFill>
                <a:latin typeface="Montserrat" pitchFamily="34" charset="0"/>
                <a:ea typeface="Montserrat" pitchFamily="34" charset="-122"/>
                <a:cs typeface="Montserrat" pitchFamily="34" charset="-120"/>
              </a:rPr>
              <a:t>X</a:t>
            </a:r>
            <a:endParaRPr lang="en-US" sz="2300" dirty="0"/>
          </a:p>
        </p:txBody>
      </p:sp>
      <p:sp>
        <p:nvSpPr>
          <p:cNvPr id="7" name="Text 5"/>
          <p:cNvSpPr/>
          <p:nvPr/>
        </p:nvSpPr>
        <p:spPr>
          <a:xfrm>
            <a:off x="6761038" y="2269108"/>
            <a:ext cx="4490258" cy="26538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E5F"/>
                </a:solidFill>
                <a:latin typeface="Poppins" pitchFamily="34" charset="0"/>
                <a:ea typeface="Poppins" pitchFamily="34" charset="-122"/>
                <a:cs typeface="Poppins" pitchFamily="34" charset="-120"/>
              </a:rPr>
              <a:t>Years your data must stay secret</a:t>
            </a:r>
            <a:endParaRPr lang="en-US" sz="1400" dirty="0"/>
          </a:p>
        </p:txBody>
      </p:sp>
      <p:sp>
        <p:nvSpPr>
          <p:cNvPr id="8" name="Shape 6"/>
          <p:cNvSpPr/>
          <p:nvPr/>
        </p:nvSpPr>
        <p:spPr>
          <a:xfrm>
            <a:off x="6505476" y="2923332"/>
            <a:ext cx="4870599" cy="1211957"/>
          </a:xfrm>
          <a:prstGeom prst="roundRect">
            <a:avLst>
              <a:gd name="adj" fmla="val 13361"/>
            </a:avLst>
          </a:prstGeom>
          <a:solidFill>
            <a:srgbClr val="FFFFFF"/>
          </a:solidFill>
          <a:ln w="6350">
            <a:solidFill>
              <a:srgbClr val="D5E3E1"/>
            </a:solidFill>
            <a:prstDash val="solid"/>
          </a:ln>
        </p:spPr>
      </p:sp>
      <p:sp>
        <p:nvSpPr>
          <p:cNvPr id="9" name="Text 7"/>
          <p:cNvSpPr/>
          <p:nvPr/>
        </p:nvSpPr>
        <p:spPr>
          <a:xfrm>
            <a:off x="6761038" y="3204270"/>
            <a:ext cx="4490258" cy="346646"/>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0E1A1B"/>
                </a:solidFill>
                <a:latin typeface="Montserrat" pitchFamily="34" charset="0"/>
                <a:ea typeface="Montserrat" pitchFamily="34" charset="-122"/>
                <a:cs typeface="Montserrat" pitchFamily="34" charset="-120"/>
              </a:rPr>
              <a:t>Y</a:t>
            </a:r>
            <a:endParaRPr lang="en-US" sz="2300" dirty="0"/>
          </a:p>
        </p:txBody>
      </p:sp>
      <p:sp>
        <p:nvSpPr>
          <p:cNvPr id="10" name="Text 8"/>
          <p:cNvSpPr/>
          <p:nvPr/>
        </p:nvSpPr>
        <p:spPr>
          <a:xfrm>
            <a:off x="6761038" y="3614365"/>
            <a:ext cx="4490258" cy="26538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E5F"/>
                </a:solidFill>
                <a:latin typeface="Poppins" pitchFamily="34" charset="0"/>
                <a:ea typeface="Poppins" pitchFamily="34" charset="-122"/>
                <a:cs typeface="Poppins" pitchFamily="34" charset="-120"/>
              </a:rPr>
              <a:t>Years your migration will take</a:t>
            </a:r>
            <a:endParaRPr lang="en-US" sz="1400" dirty="0"/>
          </a:p>
        </p:txBody>
      </p:sp>
      <p:sp>
        <p:nvSpPr>
          <p:cNvPr id="11" name="Shape 9"/>
          <p:cNvSpPr/>
          <p:nvPr/>
        </p:nvSpPr>
        <p:spPr>
          <a:xfrm>
            <a:off x="6505476" y="4268589"/>
            <a:ext cx="4870599" cy="1211957"/>
          </a:xfrm>
          <a:prstGeom prst="roundRect">
            <a:avLst>
              <a:gd name="adj" fmla="val 13361"/>
            </a:avLst>
          </a:prstGeom>
          <a:solidFill>
            <a:srgbClr val="FFFFFF"/>
          </a:solidFill>
          <a:ln w="6350">
            <a:solidFill>
              <a:srgbClr val="D5E3E1"/>
            </a:solidFill>
            <a:prstDash val="solid"/>
          </a:ln>
        </p:spPr>
      </p:sp>
      <p:sp>
        <p:nvSpPr>
          <p:cNvPr id="12" name="Text 10"/>
          <p:cNvSpPr/>
          <p:nvPr/>
        </p:nvSpPr>
        <p:spPr>
          <a:xfrm>
            <a:off x="6761038" y="4549527"/>
            <a:ext cx="4490258" cy="346646"/>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0E1A1B"/>
                </a:solidFill>
                <a:latin typeface="Montserrat" pitchFamily="34" charset="0"/>
                <a:ea typeface="Montserrat" pitchFamily="34" charset="-122"/>
                <a:cs typeface="Montserrat" pitchFamily="34" charset="-120"/>
              </a:rPr>
              <a:t>Z</a:t>
            </a:r>
            <a:endParaRPr lang="en-US" sz="2300" dirty="0"/>
          </a:p>
        </p:txBody>
      </p:sp>
      <p:sp>
        <p:nvSpPr>
          <p:cNvPr id="13" name="Text 11"/>
          <p:cNvSpPr/>
          <p:nvPr/>
        </p:nvSpPr>
        <p:spPr>
          <a:xfrm>
            <a:off x="6761038" y="4959623"/>
            <a:ext cx="4490258" cy="26538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E5F"/>
                </a:solidFill>
                <a:latin typeface="Poppins" pitchFamily="34" charset="0"/>
                <a:ea typeface="Poppins" pitchFamily="34" charset="-122"/>
                <a:cs typeface="Poppins" pitchFamily="34" charset="-120"/>
              </a:rPr>
              <a:t>Years until a capable machine exists</a:t>
            </a:r>
            <a:endParaRPr lang="en-US" sz="1400" dirty="0"/>
          </a:p>
        </p:txBody>
      </p:sp>
      <p:sp>
        <p:nvSpPr>
          <p:cNvPr id="14" name="Text 12"/>
          <p:cNvSpPr/>
          <p:nvPr/>
        </p:nvSpPr>
        <p:spPr>
          <a:xfrm>
            <a:off x="812750" y="6217965"/>
            <a:ext cx="7236083"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E5F"/>
                </a:solidFill>
                <a:latin typeface="Poppins" pitchFamily="34" charset="0"/>
                <a:ea typeface="Poppins" pitchFamily="34" charset="-122"/>
                <a:cs typeface="Poppins" pitchFamily="34" charset="-120"/>
              </a:rPr>
              <a:t>Mosca’s inequality, as set out in </a:t>
            </a:r>
            <a:r>
              <a:rPr lang="en-US" sz="1200" i="1" dirty="0">
                <a:solidFill>
                  <a:srgbClr val="4A5E5F"/>
                </a:solidFill>
                <a:latin typeface="Poppins" pitchFamily="34" charset="0"/>
                <a:ea typeface="Poppins" pitchFamily="34" charset="-122"/>
                <a:cs typeface="Poppins" pitchFamily="34" charset="-120"/>
              </a:rPr>
              <a:t>Securing Africa’s Digital Backbone</a:t>
            </a:r>
            <a:r>
              <a:rPr lang="en-US" sz="1200" dirty="0">
                <a:solidFill>
                  <a:srgbClr val="4A5E5F"/>
                </a:solidFill>
                <a:latin typeface="Poppins" pitchFamily="34" charset="0"/>
                <a:ea typeface="Poppins" pitchFamily="34" charset="-122"/>
                <a:cs typeface="Poppins" pitchFamily="34" charset="-120"/>
              </a:rPr>
              <a:t> (AQC, 2026).</a:t>
            </a:r>
            <a:endParaRPr lang="en-US" sz="1200" dirty="0"/>
          </a:p>
        </p:txBody>
      </p:sp>
      <p:sp>
        <p:nvSpPr>
          <p:cNvPr id="15" name="Text 13"/>
          <p:cNvSpPr/>
          <p:nvPr/>
        </p:nvSpPr>
        <p:spPr>
          <a:xfrm>
            <a:off x="11232530" y="6217965"/>
            <a:ext cx="146571"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E5F"/>
                </a:solidFill>
                <a:latin typeface="Poppins" pitchFamily="34" charset="0"/>
                <a:ea typeface="Poppins" pitchFamily="34" charset="-122"/>
                <a:cs typeface="Poppi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F20"/>
        </a:solidFill>
      </p:bgPr>
    </p:bg>
    <p:spTree>
      <p:nvGrpSpPr>
        <p:cNvPr id="1" name=""/>
        <p:cNvGrpSpPr/>
        <p:nvPr/>
      </p:nvGrpSpPr>
      <p:grpSpPr>
        <a:xfrm>
          <a:off x="0" y="0"/>
          <a:ext cx="0" cy="0"/>
          <a:chOff x="0" y="0"/>
          <a:chExt cx="0" cy="0"/>
        </a:xfrm>
      </p:grpSpPr>
      <p:sp>
        <p:nvSpPr>
          <p:cNvPr id="2" name="Text 0"/>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7E3DC"/>
                </a:solidFill>
                <a:latin typeface="Montserrat" pitchFamily="34" charset="0"/>
                <a:ea typeface="Montserrat" pitchFamily="34" charset="-122"/>
                <a:cs typeface="Montserrat" pitchFamily="34" charset="-120"/>
              </a:rPr>
              <a:t>WHY THIS COUNTRY, THIS ROOM</a:t>
            </a:r>
            <a:endParaRPr lang="en-US" sz="1200" dirty="0"/>
          </a:p>
        </p:txBody>
      </p:sp>
      <p:sp>
        <p:nvSpPr>
          <p:cNvPr id="3" name="Text 1"/>
          <p:cNvSpPr/>
          <p:nvPr>
            <p:ph type="title"/>
          </p:nvPr>
        </p:nvSpPr>
        <p:spPr>
          <a:xfrm>
            <a:off x="812750" y="1254696"/>
            <a:ext cx="10883494" cy="47240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AF9"/>
                </a:solidFill>
                <a:latin typeface="Montserrat" pitchFamily="34" charset="0"/>
                <a:ea typeface="Montserrat" pitchFamily="34" charset="-122"/>
                <a:cs typeface="Montserrat" pitchFamily="34" charset="-120"/>
              </a:rPr>
              <a:t>Nigeria is at the sharp end</a:t>
            </a:r>
            <a:endParaRPr lang="en-US" sz="3200" dirty="0"/>
          </a:p>
        </p:txBody>
      </p:sp>
      <p:sp>
        <p:nvSpPr>
          <p:cNvPr id="4" name="Shape 2"/>
          <p:cNvSpPr/>
          <p:nvPr/>
        </p:nvSpPr>
        <p:spPr>
          <a:xfrm>
            <a:off x="815925" y="1933476"/>
            <a:ext cx="3422650" cy="3905374"/>
          </a:xfrm>
          <a:prstGeom prst="roundRect">
            <a:avLst>
              <a:gd name="adj" fmla="val 4731"/>
            </a:avLst>
          </a:prstGeom>
          <a:solidFill>
            <a:srgbClr val="143A3A"/>
          </a:solidFill>
          <a:ln w="6350">
            <a:solidFill>
              <a:srgbClr val="1F4B4B"/>
            </a:solidFill>
            <a:prstDash val="solid"/>
          </a:ln>
        </p:spPr>
      </p:sp>
      <p:sp>
        <p:nvSpPr>
          <p:cNvPr id="5" name="Text 3"/>
          <p:cNvSpPr/>
          <p:nvPr/>
        </p:nvSpPr>
        <p:spPr>
          <a:xfrm>
            <a:off x="1046113" y="3284190"/>
            <a:ext cx="305114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7E3DC"/>
                </a:solidFill>
                <a:latin typeface="Montserrat" pitchFamily="34" charset="0"/>
                <a:ea typeface="Montserrat" pitchFamily="34" charset="-122"/>
                <a:cs typeface="Montserrat" pitchFamily="34" charset="-120"/>
              </a:rPr>
              <a:t>137m</a:t>
            </a:r>
            <a:endParaRPr lang="en-US" sz="4800" dirty="0"/>
          </a:p>
        </p:txBody>
      </p:sp>
      <p:sp>
        <p:nvSpPr>
          <p:cNvPr id="6" name="Text 4"/>
          <p:cNvSpPr/>
          <p:nvPr/>
        </p:nvSpPr>
        <p:spPr>
          <a:xfrm>
            <a:off x="1046113" y="4008090"/>
            <a:ext cx="3051143" cy="50537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3E6E5"/>
                </a:solidFill>
                <a:latin typeface="Poppins" pitchFamily="34" charset="0"/>
                <a:ea typeface="Poppins" pitchFamily="34" charset="-122"/>
                <a:cs typeface="Poppins" pitchFamily="34" charset="-120"/>
              </a:rPr>
              <a:t>people enrolled in the national identity database</a:t>
            </a:r>
            <a:endParaRPr lang="en-US" sz="1400" dirty="0"/>
          </a:p>
        </p:txBody>
      </p:sp>
      <p:sp>
        <p:nvSpPr>
          <p:cNvPr id="7" name="Shape 5"/>
          <p:cNvSpPr/>
          <p:nvPr/>
        </p:nvSpPr>
        <p:spPr>
          <a:xfrm>
            <a:off x="4384601" y="1933476"/>
            <a:ext cx="3422724" cy="3905374"/>
          </a:xfrm>
          <a:prstGeom prst="roundRect">
            <a:avLst>
              <a:gd name="adj" fmla="val 4731"/>
            </a:avLst>
          </a:prstGeom>
          <a:solidFill>
            <a:srgbClr val="143A3A"/>
          </a:solidFill>
          <a:ln w="6350">
            <a:solidFill>
              <a:srgbClr val="1F4B4B"/>
            </a:solidFill>
            <a:prstDash val="solid"/>
          </a:ln>
        </p:spPr>
      </p:sp>
      <p:sp>
        <p:nvSpPr>
          <p:cNvPr id="8" name="Text 6"/>
          <p:cNvSpPr/>
          <p:nvPr/>
        </p:nvSpPr>
        <p:spPr>
          <a:xfrm>
            <a:off x="4614788" y="3164235"/>
            <a:ext cx="305122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7E3DC"/>
                </a:solidFill>
                <a:latin typeface="Montserrat" pitchFamily="34" charset="0"/>
                <a:ea typeface="Montserrat" pitchFamily="34" charset="-122"/>
                <a:cs typeface="Montserrat" pitchFamily="34" charset="-120"/>
              </a:rPr>
              <a:t>Root</a:t>
            </a:r>
            <a:endParaRPr lang="en-US" sz="4800" dirty="0"/>
          </a:p>
        </p:txBody>
      </p:sp>
      <p:sp>
        <p:nvSpPr>
          <p:cNvPr id="9" name="Text 7"/>
          <p:cNvSpPr/>
          <p:nvPr/>
        </p:nvSpPr>
        <p:spPr>
          <a:xfrm>
            <a:off x="4614788" y="3888135"/>
            <a:ext cx="3051220" cy="74535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3E6E5"/>
                </a:solidFill>
                <a:latin typeface="Poppins" pitchFamily="34" charset="0"/>
                <a:ea typeface="Poppins" pitchFamily="34" charset="-122"/>
                <a:cs typeface="Poppins" pitchFamily="34" charset="-120"/>
              </a:rPr>
              <a:t>certificate authority for national digital infrastructure, under the 2026 Act</a:t>
            </a:r>
            <a:endParaRPr lang="en-US" sz="1400" dirty="0"/>
          </a:p>
        </p:txBody>
      </p:sp>
      <p:sp>
        <p:nvSpPr>
          <p:cNvPr id="10" name="Shape 8"/>
          <p:cNvSpPr/>
          <p:nvPr/>
        </p:nvSpPr>
        <p:spPr>
          <a:xfrm>
            <a:off x="7953350" y="1933476"/>
            <a:ext cx="3422724" cy="3905374"/>
          </a:xfrm>
          <a:prstGeom prst="roundRect">
            <a:avLst>
              <a:gd name="adj" fmla="val 4731"/>
            </a:avLst>
          </a:prstGeom>
          <a:solidFill>
            <a:srgbClr val="07E3DC"/>
          </a:solidFill>
          <a:ln w="6350">
            <a:solidFill>
              <a:srgbClr val="07E3DC"/>
            </a:solidFill>
            <a:prstDash val="solid"/>
          </a:ln>
        </p:spPr>
      </p:sp>
      <p:sp>
        <p:nvSpPr>
          <p:cNvPr id="11" name="Text 9"/>
          <p:cNvSpPr/>
          <p:nvPr/>
        </p:nvSpPr>
        <p:spPr>
          <a:xfrm>
            <a:off x="8183538" y="3284190"/>
            <a:ext cx="305122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A1F20"/>
                </a:solidFill>
                <a:latin typeface="Montserrat" pitchFamily="34" charset="0"/>
                <a:ea typeface="Montserrat" pitchFamily="34" charset="-122"/>
                <a:cs typeface="Montserrat" pitchFamily="34" charset="-120"/>
              </a:rPr>
              <a:t>#1</a:t>
            </a:r>
            <a:endParaRPr lang="en-US" sz="4800" dirty="0"/>
          </a:p>
        </p:txBody>
      </p:sp>
      <p:sp>
        <p:nvSpPr>
          <p:cNvPr id="12" name="Text 10"/>
          <p:cNvSpPr/>
          <p:nvPr/>
        </p:nvSpPr>
        <p:spPr>
          <a:xfrm>
            <a:off x="8183538" y="4008090"/>
            <a:ext cx="3051220" cy="50537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A1F20"/>
                </a:solidFill>
                <a:latin typeface="Poppins" pitchFamily="34" charset="0"/>
                <a:ea typeface="Poppins" pitchFamily="34" charset="-122"/>
                <a:cs typeface="Poppins" pitchFamily="34" charset="-120"/>
              </a:rPr>
              <a:t>region in the world for mobile money activity</a:t>
            </a:r>
            <a:endParaRPr lang="en-US" sz="1400" dirty="0"/>
          </a:p>
        </p:txBody>
      </p:sp>
      <p:sp>
        <p:nvSpPr>
          <p:cNvPr id="13" name="Text 11"/>
          <p:cNvSpPr/>
          <p:nvPr/>
        </p:nvSpPr>
        <p:spPr>
          <a:xfrm>
            <a:off x="812750" y="6217965"/>
            <a:ext cx="7985641"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C2"/>
                </a:solidFill>
                <a:latin typeface="Poppins" pitchFamily="34" charset="0"/>
                <a:ea typeface="Poppins" pitchFamily="34" charset="-122"/>
                <a:cs typeface="Poppins" pitchFamily="34" charset="-120"/>
              </a:rPr>
              <a:t>NIMC public statements, 2026; GSMA State of the Industry Report on Mobile Money 2026.</a:t>
            </a:r>
            <a:endParaRPr lang="en-US" sz="1200" dirty="0"/>
          </a:p>
        </p:txBody>
      </p:sp>
      <p:sp>
        <p:nvSpPr>
          <p:cNvPr id="14" name="Text 12"/>
          <p:cNvSpPr/>
          <p:nvPr/>
        </p:nvSpPr>
        <p:spPr>
          <a:xfrm>
            <a:off x="11231488" y="6217965"/>
            <a:ext cx="147613"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C2"/>
                </a:solidFill>
                <a:latin typeface="Poppins" pitchFamily="34" charset="0"/>
                <a:ea typeface="Poppins" pitchFamily="34" charset="-122"/>
                <a:cs typeface="Poppi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F6B"/>
                </a:solidFill>
                <a:latin typeface="Montserrat" pitchFamily="34" charset="0"/>
                <a:ea typeface="Montserrat" pitchFamily="34" charset="-122"/>
                <a:cs typeface="Montserrat" pitchFamily="34" charset="-120"/>
              </a:rPr>
              <a:t>THE DISTINCTION THE WHOLE TALK RESTS ON</a:t>
            </a:r>
            <a:endParaRPr lang="en-US" sz="1200" dirty="0"/>
          </a:p>
        </p:txBody>
      </p:sp>
      <p:sp>
        <p:nvSpPr>
          <p:cNvPr id="3" name="Text 1"/>
          <p:cNvSpPr/>
          <p:nvPr>
            <p:ph type="title"/>
          </p:nvPr>
        </p:nvSpPr>
        <p:spPr>
          <a:xfrm>
            <a:off x="812750" y="1254696"/>
            <a:ext cx="10883494"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A1B"/>
                </a:solidFill>
                <a:latin typeface="Montserrat" pitchFamily="34" charset="0"/>
                <a:ea typeface="Montserrat" pitchFamily="34" charset="-122"/>
                <a:cs typeface="Montserrat" pitchFamily="34" charset="-120"/>
              </a:rPr>
              <a:t>Activity is not capability</a:t>
            </a:r>
            <a:endParaRPr lang="en-US" sz="3600" dirty="0"/>
          </a:p>
        </p:txBody>
      </p:sp>
      <p:sp>
        <p:nvSpPr>
          <p:cNvPr id="4" name="Text 2"/>
          <p:cNvSpPr/>
          <p:nvPr/>
        </p:nvSpPr>
        <p:spPr>
          <a:xfrm>
            <a:off x="812750" y="1986186"/>
            <a:ext cx="2747010" cy="434305"/>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E1A1B"/>
                </a:solidFill>
                <a:latin typeface="Montserrat" pitchFamily="34" charset="0"/>
                <a:ea typeface="Montserrat" pitchFamily="34" charset="-122"/>
                <a:cs typeface="Montserrat" pitchFamily="34" charset="-120"/>
              </a:rPr>
              <a:t>People</a:t>
            </a:r>
            <a:endParaRPr lang="en-US" sz="2300" dirty="0"/>
          </a:p>
        </p:txBody>
      </p:sp>
      <p:pic>
        <p:nvPicPr>
          <p:cNvPr id="5" name="Image 0" descr="arrow-right">    </p:cNvPr>
          <p:cNvPicPr>
            <a:picLocks noChangeAspect="1"/>
          </p:cNvPicPr>
          <p:nvPr/>
        </p:nvPicPr>
        <p:blipFill>
          <a:blip r:embed="rId1"/>
          <a:srcRect l="0" r="0" t="-3" b="-3"/>
          <a:stretch/>
        </p:blipFill>
        <p:spPr>
          <a:xfrm>
            <a:off x="3644801" y="2095351"/>
            <a:ext cx="406375" cy="190500"/>
          </a:xfrm>
          <a:prstGeom prst="rect">
            <a:avLst/>
          </a:prstGeom>
        </p:spPr>
      </p:pic>
      <p:sp>
        <p:nvSpPr>
          <p:cNvPr id="6" name="Text 3"/>
          <p:cNvSpPr/>
          <p:nvPr/>
        </p:nvSpPr>
        <p:spPr>
          <a:xfrm>
            <a:off x="4216226" y="1986186"/>
            <a:ext cx="7377914" cy="434305"/>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B6F6B"/>
                </a:solidFill>
                <a:latin typeface="Montserrat" pitchFamily="34" charset="0"/>
                <a:ea typeface="Montserrat" pitchFamily="34" charset="-122"/>
                <a:cs typeface="Montserrat" pitchFamily="34" charset="-120"/>
              </a:rPr>
              <a:t>are not an institution</a:t>
            </a:r>
            <a:endParaRPr lang="en-US" sz="2300" dirty="0"/>
          </a:p>
        </p:txBody>
      </p:sp>
      <p:sp>
        <p:nvSpPr>
          <p:cNvPr id="7" name="Text 4"/>
          <p:cNvSpPr/>
          <p:nvPr/>
        </p:nvSpPr>
        <p:spPr>
          <a:xfrm>
            <a:off x="812750" y="2560141"/>
            <a:ext cx="2747010" cy="434305"/>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E1A1B"/>
                </a:solidFill>
                <a:latin typeface="Montserrat" pitchFamily="34" charset="0"/>
                <a:ea typeface="Montserrat" pitchFamily="34" charset="-122"/>
                <a:cs typeface="Montserrat" pitchFamily="34" charset="-120"/>
              </a:rPr>
              <a:t>Access</a:t>
            </a:r>
            <a:endParaRPr lang="en-US" sz="2300" dirty="0"/>
          </a:p>
        </p:txBody>
      </p:sp>
      <p:pic>
        <p:nvPicPr>
          <p:cNvPr id="8" name="Image 1" descr="arrow-right">    </p:cNvPr>
          <p:cNvPicPr>
            <a:picLocks noChangeAspect="1"/>
          </p:cNvPicPr>
          <p:nvPr/>
        </p:nvPicPr>
        <p:blipFill>
          <a:blip r:embed="rId2"/>
          <a:srcRect l="0" r="0" t="-3" b="-3"/>
          <a:stretch/>
        </p:blipFill>
        <p:spPr>
          <a:xfrm>
            <a:off x="3644801" y="2669307"/>
            <a:ext cx="406375" cy="190500"/>
          </a:xfrm>
          <a:prstGeom prst="rect">
            <a:avLst/>
          </a:prstGeom>
        </p:spPr>
      </p:pic>
      <p:sp>
        <p:nvSpPr>
          <p:cNvPr id="9" name="Text 5"/>
          <p:cNvSpPr/>
          <p:nvPr/>
        </p:nvSpPr>
        <p:spPr>
          <a:xfrm>
            <a:off x="4216226" y="2560141"/>
            <a:ext cx="7377914" cy="434305"/>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B6F6B"/>
                </a:solidFill>
                <a:latin typeface="Montserrat" pitchFamily="34" charset="0"/>
                <a:ea typeface="Montserrat" pitchFamily="34" charset="-122"/>
                <a:cs typeface="Montserrat" pitchFamily="34" charset="-120"/>
              </a:rPr>
              <a:t>is not control</a:t>
            </a:r>
            <a:endParaRPr lang="en-US" sz="2300" dirty="0"/>
          </a:p>
        </p:txBody>
      </p:sp>
      <p:sp>
        <p:nvSpPr>
          <p:cNvPr id="10" name="Text 6"/>
          <p:cNvSpPr/>
          <p:nvPr/>
        </p:nvSpPr>
        <p:spPr>
          <a:xfrm>
            <a:off x="812750" y="3134097"/>
            <a:ext cx="2747010" cy="434305"/>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E1A1B"/>
                </a:solidFill>
                <a:latin typeface="Montserrat" pitchFamily="34" charset="0"/>
                <a:ea typeface="Montserrat" pitchFamily="34" charset="-122"/>
                <a:cs typeface="Montserrat" pitchFamily="34" charset="-120"/>
              </a:rPr>
              <a:t>A mention</a:t>
            </a:r>
            <a:endParaRPr lang="en-US" sz="2300" dirty="0"/>
          </a:p>
        </p:txBody>
      </p:sp>
      <p:pic>
        <p:nvPicPr>
          <p:cNvPr id="11" name="Image 2" descr="arrow-right">    </p:cNvPr>
          <p:cNvPicPr>
            <a:picLocks noChangeAspect="1"/>
          </p:cNvPicPr>
          <p:nvPr/>
        </p:nvPicPr>
        <p:blipFill>
          <a:blip r:embed="rId3"/>
          <a:srcRect l="0" r="0" t="-3" b="-3"/>
          <a:stretch/>
        </p:blipFill>
        <p:spPr>
          <a:xfrm>
            <a:off x="3644801" y="3243263"/>
            <a:ext cx="406375" cy="190500"/>
          </a:xfrm>
          <a:prstGeom prst="rect">
            <a:avLst/>
          </a:prstGeom>
        </p:spPr>
      </p:pic>
      <p:sp>
        <p:nvSpPr>
          <p:cNvPr id="12" name="Text 7"/>
          <p:cNvSpPr/>
          <p:nvPr/>
        </p:nvSpPr>
        <p:spPr>
          <a:xfrm>
            <a:off x="4216226" y="3134097"/>
            <a:ext cx="7377914" cy="434305"/>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B6F6B"/>
                </a:solidFill>
                <a:latin typeface="Montserrat" pitchFamily="34" charset="0"/>
                <a:ea typeface="Montserrat" pitchFamily="34" charset="-122"/>
                <a:cs typeface="Montserrat" pitchFamily="34" charset="-120"/>
              </a:rPr>
              <a:t>is not an instrument</a:t>
            </a:r>
            <a:endParaRPr lang="en-US" sz="2300" dirty="0"/>
          </a:p>
        </p:txBody>
      </p:sp>
      <p:sp>
        <p:nvSpPr>
          <p:cNvPr id="13" name="Text 8"/>
          <p:cNvSpPr/>
          <p:nvPr/>
        </p:nvSpPr>
        <p:spPr>
          <a:xfrm>
            <a:off x="812750" y="3708053"/>
            <a:ext cx="2747010" cy="434305"/>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E1A1B"/>
                </a:solidFill>
                <a:latin typeface="Montserrat" pitchFamily="34" charset="0"/>
                <a:ea typeface="Montserrat" pitchFamily="34" charset="-122"/>
                <a:cs typeface="Montserrat" pitchFamily="34" charset="-120"/>
              </a:rPr>
              <a:t>Attendance</a:t>
            </a:r>
            <a:endParaRPr lang="en-US" sz="2300" dirty="0"/>
          </a:p>
        </p:txBody>
      </p:sp>
      <p:pic>
        <p:nvPicPr>
          <p:cNvPr id="14" name="Image 3" descr="arrow-right">    </p:cNvPr>
          <p:cNvPicPr>
            <a:picLocks noChangeAspect="1"/>
          </p:cNvPicPr>
          <p:nvPr/>
        </p:nvPicPr>
        <p:blipFill>
          <a:blip r:embed="rId4"/>
          <a:srcRect l="0" r="0" t="-3" b="-3"/>
          <a:stretch/>
        </p:blipFill>
        <p:spPr>
          <a:xfrm>
            <a:off x="3644801" y="3817218"/>
            <a:ext cx="406375" cy="190500"/>
          </a:xfrm>
          <a:prstGeom prst="rect">
            <a:avLst/>
          </a:prstGeom>
        </p:spPr>
      </p:pic>
      <p:sp>
        <p:nvSpPr>
          <p:cNvPr id="15" name="Text 9"/>
          <p:cNvSpPr/>
          <p:nvPr/>
        </p:nvSpPr>
        <p:spPr>
          <a:xfrm>
            <a:off x="4216226" y="3708053"/>
            <a:ext cx="7377914" cy="434305"/>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B6F6B"/>
                </a:solidFill>
                <a:latin typeface="Montserrat" pitchFamily="34" charset="0"/>
                <a:ea typeface="Montserrat" pitchFamily="34" charset="-122"/>
                <a:cs typeface="Montserrat" pitchFamily="34" charset="-120"/>
              </a:rPr>
              <a:t>is not representation</a:t>
            </a:r>
            <a:endParaRPr lang="en-US" sz="2300" dirty="0"/>
          </a:p>
        </p:txBody>
      </p:sp>
      <p:sp>
        <p:nvSpPr>
          <p:cNvPr id="16" name="Text 10"/>
          <p:cNvSpPr/>
          <p:nvPr/>
        </p:nvSpPr>
        <p:spPr>
          <a:xfrm>
            <a:off x="812750" y="6217965"/>
            <a:ext cx="3612326"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E5F"/>
                </a:solidFill>
                <a:latin typeface="Poppins" pitchFamily="34" charset="0"/>
                <a:ea typeface="Poppins" pitchFamily="34" charset="-122"/>
                <a:cs typeface="Poppins" pitchFamily="34" charset="-120"/>
              </a:rPr>
              <a:t>Quantum in Africa · University of Ibadan</a:t>
            </a:r>
            <a:endParaRPr lang="en-US" sz="1200" dirty="0"/>
          </a:p>
        </p:txBody>
      </p:sp>
      <p:sp>
        <p:nvSpPr>
          <p:cNvPr id="17" name="Text 11"/>
          <p:cNvSpPr/>
          <p:nvPr/>
        </p:nvSpPr>
        <p:spPr>
          <a:xfrm>
            <a:off x="11245031" y="6217965"/>
            <a:ext cx="134069"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E5F"/>
                </a:solidFill>
                <a:latin typeface="Poppins" pitchFamily="34" charset="0"/>
                <a:ea typeface="Poppins" pitchFamily="34" charset="-122"/>
                <a:cs typeface="Poppi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51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71516"/>
              </a:gs>
              <a:gs pos="100000">
                <a:srgbClr val="0C3334"/>
              </a:gs>
            </a:gsLst>
            <a:lin ang="4200000" scaled="0"/>
          </a:gradFill>
          <a:ln/>
        </p:spPr>
      </p:sp>
      <p:sp>
        <p:nvSpPr>
          <p:cNvPr id="3" name="Text 1"/>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7E3DC"/>
                </a:solidFill>
                <a:latin typeface="Montserrat" pitchFamily="34" charset="0"/>
                <a:ea typeface="Montserrat" pitchFamily="34" charset="-122"/>
                <a:cs typeface="Montserrat" pitchFamily="34" charset="-120"/>
              </a:rPr>
              <a:t>OUR ARGUMENT — STATED AS A HYPOTHESIS</a:t>
            </a:r>
            <a:endParaRPr lang="en-US" sz="1200" dirty="0"/>
          </a:p>
        </p:txBody>
      </p:sp>
      <p:sp>
        <p:nvSpPr>
          <p:cNvPr id="4" name="Text 2"/>
          <p:cNvSpPr/>
          <p:nvPr>
            <p:ph type="title"/>
          </p:nvPr>
        </p:nvSpPr>
        <p:spPr>
          <a:xfrm>
            <a:off x="812750" y="1254696"/>
            <a:ext cx="10883494" cy="47240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AF9"/>
                </a:solidFill>
                <a:latin typeface="Montserrat" pitchFamily="34" charset="0"/>
                <a:ea typeface="Montserrat" pitchFamily="34" charset="-122"/>
                <a:cs typeface="Montserrat" pitchFamily="34" charset="-120"/>
              </a:rPr>
              <a:t>A low-capital sequence</a:t>
            </a:r>
            <a:endParaRPr lang="en-US" sz="3200" dirty="0"/>
          </a:p>
        </p:txBody>
      </p:sp>
      <p:sp>
        <p:nvSpPr>
          <p:cNvPr id="5" name="Shape 3"/>
          <p:cNvSpPr/>
          <p:nvPr/>
        </p:nvSpPr>
        <p:spPr>
          <a:xfrm>
            <a:off x="815925" y="2958902"/>
            <a:ext cx="2178075" cy="1854448"/>
          </a:xfrm>
          <a:prstGeom prst="roundRect">
            <a:avLst>
              <a:gd name="adj" fmla="val 8732"/>
            </a:avLst>
          </a:prstGeom>
          <a:solidFill>
            <a:srgbClr val="143A3A"/>
          </a:solidFill>
          <a:ln w="6350">
            <a:solidFill>
              <a:srgbClr val="1F4B4B"/>
            </a:solidFill>
            <a:prstDash val="solid"/>
          </a:ln>
        </p:spPr>
      </p:sp>
      <p:sp>
        <p:nvSpPr>
          <p:cNvPr id="6" name="Text 4"/>
          <p:cNvSpPr/>
          <p:nvPr/>
        </p:nvSpPr>
        <p:spPr>
          <a:xfrm>
            <a:off x="1071488" y="3239839"/>
            <a:ext cx="1717749" cy="989137"/>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F4FAF9"/>
                </a:solidFill>
                <a:latin typeface="Montserrat" pitchFamily="34" charset="0"/>
                <a:ea typeface="Montserrat" pitchFamily="34" charset="-122"/>
                <a:cs typeface="Montserrat" pitchFamily="34" charset="-120"/>
              </a:rPr>
              <a:t>1. Community</a:t>
            </a:r>
            <a:endParaRPr lang="en-US" sz="2300" dirty="0"/>
          </a:p>
        </p:txBody>
      </p:sp>
      <p:sp>
        <p:nvSpPr>
          <p:cNvPr id="7" name="Text 5"/>
          <p:cNvSpPr/>
          <p:nvPr/>
        </p:nvSpPr>
        <p:spPr>
          <a:xfrm>
            <a:off x="1071488" y="4292426"/>
            <a:ext cx="1717749" cy="26538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3E6E5"/>
                </a:solidFill>
                <a:latin typeface="Poppins" pitchFamily="34" charset="0"/>
                <a:ea typeface="Poppins" pitchFamily="34" charset="-122"/>
                <a:cs typeface="Poppins" pitchFamily="34" charset="-120"/>
              </a:rPr>
              <a:t>and coordination</a:t>
            </a:r>
            <a:endParaRPr lang="en-US" sz="1400" dirty="0"/>
          </a:p>
        </p:txBody>
      </p:sp>
      <p:pic>
        <p:nvPicPr>
          <p:cNvPr id="8" name="Image 0" descr="arrow-right">    </p:cNvPr>
          <p:cNvPicPr>
            <a:picLocks noChangeAspect="1"/>
          </p:cNvPicPr>
          <p:nvPr/>
        </p:nvPicPr>
        <p:blipFill>
          <a:blip r:embed="rId1"/>
          <a:srcRect l="0" r="0" t="0" b="0"/>
          <a:stretch/>
        </p:blipFill>
        <p:spPr>
          <a:xfrm>
            <a:off x="3111475" y="3790876"/>
            <a:ext cx="381000" cy="190500"/>
          </a:xfrm>
          <a:prstGeom prst="rect">
            <a:avLst/>
          </a:prstGeom>
        </p:spPr>
      </p:pic>
      <p:sp>
        <p:nvSpPr>
          <p:cNvPr id="9" name="Shape 6"/>
          <p:cNvSpPr/>
          <p:nvPr/>
        </p:nvSpPr>
        <p:spPr>
          <a:xfrm>
            <a:off x="3609950" y="3160192"/>
            <a:ext cx="2178075" cy="1451942"/>
          </a:xfrm>
          <a:prstGeom prst="roundRect">
            <a:avLst>
              <a:gd name="adj" fmla="val 11152"/>
            </a:avLst>
          </a:prstGeom>
          <a:solidFill>
            <a:srgbClr val="143A3A"/>
          </a:solidFill>
          <a:ln w="6350">
            <a:solidFill>
              <a:srgbClr val="1F4B4B"/>
            </a:solidFill>
            <a:prstDash val="solid"/>
          </a:ln>
        </p:spPr>
      </p:sp>
      <p:sp>
        <p:nvSpPr>
          <p:cNvPr id="10" name="Text 7"/>
          <p:cNvSpPr/>
          <p:nvPr/>
        </p:nvSpPr>
        <p:spPr>
          <a:xfrm>
            <a:off x="3865513" y="3441129"/>
            <a:ext cx="1717749" cy="346646"/>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F4FAF9"/>
                </a:solidFill>
                <a:latin typeface="Montserrat" pitchFamily="34" charset="0"/>
                <a:ea typeface="Montserrat" pitchFamily="34" charset="-122"/>
                <a:cs typeface="Montserrat" pitchFamily="34" charset="-120"/>
              </a:rPr>
              <a:t>2. Policy</a:t>
            </a:r>
            <a:endParaRPr lang="en-US" sz="2300" dirty="0"/>
          </a:p>
        </p:txBody>
      </p:sp>
      <p:sp>
        <p:nvSpPr>
          <p:cNvPr id="11" name="Text 8"/>
          <p:cNvSpPr/>
          <p:nvPr/>
        </p:nvSpPr>
        <p:spPr>
          <a:xfrm>
            <a:off x="3865513" y="3851225"/>
            <a:ext cx="1717749" cy="50537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3E6E5"/>
                </a:solidFill>
                <a:latin typeface="Poppins" pitchFamily="34" charset="0"/>
                <a:ea typeface="Poppins" pitchFamily="34" charset="-122"/>
                <a:cs typeface="Poppins" pitchFamily="34" charset="-120"/>
              </a:rPr>
              <a:t>and standards voice</a:t>
            </a:r>
            <a:endParaRPr lang="en-US" sz="1400" dirty="0"/>
          </a:p>
        </p:txBody>
      </p:sp>
      <p:pic>
        <p:nvPicPr>
          <p:cNvPr id="12" name="Image 1" descr="arrow-right">    </p:cNvPr>
          <p:cNvPicPr>
            <a:picLocks noChangeAspect="1"/>
          </p:cNvPicPr>
          <p:nvPr/>
        </p:nvPicPr>
        <p:blipFill>
          <a:blip r:embed="rId2"/>
          <a:srcRect l="0" r="0" t="0" b="0"/>
          <a:stretch/>
        </p:blipFill>
        <p:spPr>
          <a:xfrm>
            <a:off x="5905500" y="3790876"/>
            <a:ext cx="381000" cy="190500"/>
          </a:xfrm>
          <a:prstGeom prst="rect">
            <a:avLst/>
          </a:prstGeom>
        </p:spPr>
      </p:pic>
      <p:sp>
        <p:nvSpPr>
          <p:cNvPr id="13" name="Shape 9"/>
          <p:cNvSpPr/>
          <p:nvPr/>
        </p:nvSpPr>
        <p:spPr>
          <a:xfrm>
            <a:off x="6403975" y="2958902"/>
            <a:ext cx="2178075" cy="1854448"/>
          </a:xfrm>
          <a:prstGeom prst="roundRect">
            <a:avLst>
              <a:gd name="adj" fmla="val 8732"/>
            </a:avLst>
          </a:prstGeom>
          <a:solidFill>
            <a:srgbClr val="143A3A"/>
          </a:solidFill>
          <a:ln w="6350">
            <a:solidFill>
              <a:srgbClr val="1F4B4B"/>
            </a:solidFill>
            <a:prstDash val="solid"/>
          </a:ln>
        </p:spPr>
      </p:sp>
      <p:sp>
        <p:nvSpPr>
          <p:cNvPr id="14" name="Text 10"/>
          <p:cNvSpPr/>
          <p:nvPr/>
        </p:nvSpPr>
        <p:spPr>
          <a:xfrm>
            <a:off x="6659538" y="3239839"/>
            <a:ext cx="1717749" cy="989137"/>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F4FAF9"/>
                </a:solidFill>
                <a:latin typeface="Montserrat" pitchFamily="34" charset="0"/>
                <a:ea typeface="Montserrat" pitchFamily="34" charset="-122"/>
                <a:cs typeface="Montserrat" pitchFamily="34" charset="-120"/>
              </a:rPr>
              <a:t>3. Agreements</a:t>
            </a:r>
            <a:endParaRPr lang="en-US" sz="2300" dirty="0"/>
          </a:p>
        </p:txBody>
      </p:sp>
      <p:sp>
        <p:nvSpPr>
          <p:cNvPr id="15" name="Text 11"/>
          <p:cNvSpPr/>
          <p:nvPr/>
        </p:nvSpPr>
        <p:spPr>
          <a:xfrm>
            <a:off x="6659538" y="4292426"/>
            <a:ext cx="1919337" cy="265385"/>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3E6E5"/>
                </a:solidFill>
                <a:latin typeface="Poppins" pitchFamily="34" charset="0"/>
                <a:ea typeface="Poppins" pitchFamily="34" charset="-122"/>
                <a:cs typeface="Poppins" pitchFamily="34" charset="-120"/>
              </a:rPr>
              <a:t>held institutionally</a:t>
            </a:r>
            <a:endParaRPr lang="en-US" sz="1400" dirty="0"/>
          </a:p>
        </p:txBody>
      </p:sp>
      <p:pic>
        <p:nvPicPr>
          <p:cNvPr id="16" name="Image 2" descr="arrow-right">    </p:cNvPr>
          <p:cNvPicPr>
            <a:picLocks noChangeAspect="1"/>
          </p:cNvPicPr>
          <p:nvPr/>
        </p:nvPicPr>
        <p:blipFill>
          <a:blip r:embed="rId3"/>
          <a:srcRect l="0" r="0" t="0" b="0"/>
          <a:stretch/>
        </p:blipFill>
        <p:spPr>
          <a:xfrm>
            <a:off x="8699525" y="3790876"/>
            <a:ext cx="381000" cy="190500"/>
          </a:xfrm>
          <a:prstGeom prst="rect">
            <a:avLst/>
          </a:prstGeom>
        </p:spPr>
      </p:pic>
      <p:sp>
        <p:nvSpPr>
          <p:cNvPr id="17" name="Shape 12"/>
          <p:cNvSpPr/>
          <p:nvPr/>
        </p:nvSpPr>
        <p:spPr>
          <a:xfrm>
            <a:off x="9198000" y="2838946"/>
            <a:ext cx="2178075" cy="2094433"/>
          </a:xfrm>
          <a:prstGeom prst="roundRect">
            <a:avLst>
              <a:gd name="adj" fmla="val 7731"/>
            </a:avLst>
          </a:prstGeom>
          <a:solidFill>
            <a:srgbClr val="07E3DC"/>
          </a:solidFill>
          <a:ln w="6350">
            <a:solidFill>
              <a:srgbClr val="07E3DC"/>
            </a:solidFill>
            <a:prstDash val="solid"/>
          </a:ln>
        </p:spPr>
      </p:sp>
      <p:sp>
        <p:nvSpPr>
          <p:cNvPr id="18" name="Text 13"/>
          <p:cNvSpPr/>
          <p:nvPr/>
        </p:nvSpPr>
        <p:spPr>
          <a:xfrm>
            <a:off x="9453563" y="3119884"/>
            <a:ext cx="1717749" cy="989137"/>
          </a:xfrm>
          <a:prstGeom prst="rect">
            <a:avLst/>
          </a:prstGeom>
          <a:noFill/>
          <a:ln/>
        </p:spPr>
        <p:txBody>
          <a:bodyPr wrap="square" lIns="0" tIns="0" rIns="0" bIns="0" rtlCol="0" anchor="t">
            <a:normAutofit/>
          </a:bodyPr>
          <a:lstStyle/>
          <a:p>
            <a:pPr algn="l" indent="0" marL="0">
              <a:lnSpc>
                <a:spcPts val="2530"/>
              </a:lnSpc>
              <a:buNone/>
            </a:pPr>
            <a:r>
              <a:rPr lang="en-US" sz="2300" b="1" dirty="0">
                <a:solidFill>
                  <a:srgbClr val="0A1F20"/>
                </a:solidFill>
                <a:latin typeface="Montserrat" pitchFamily="34" charset="0"/>
                <a:ea typeface="Montserrat" pitchFamily="34" charset="-122"/>
                <a:cs typeface="Montserrat" pitchFamily="34" charset="-120"/>
              </a:rPr>
              <a:t>4. Infrastructure</a:t>
            </a:r>
            <a:endParaRPr lang="en-US" sz="2300" dirty="0"/>
          </a:p>
        </p:txBody>
      </p:sp>
      <p:sp>
        <p:nvSpPr>
          <p:cNvPr id="19" name="Text 14"/>
          <p:cNvSpPr/>
          <p:nvPr/>
        </p:nvSpPr>
        <p:spPr>
          <a:xfrm>
            <a:off x="9453563" y="4172471"/>
            <a:ext cx="1717749" cy="50537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A1F20"/>
                </a:solidFill>
                <a:latin typeface="Poppins" pitchFamily="34" charset="0"/>
                <a:ea typeface="Poppins" pitchFamily="34" charset="-122"/>
                <a:cs typeface="Poppins" pitchFamily="34" charset="-120"/>
              </a:rPr>
              <a:t>shared, and justified</a:t>
            </a:r>
            <a:endParaRPr lang="en-US" sz="1400" dirty="0"/>
          </a:p>
        </p:txBody>
      </p:sp>
      <p:sp>
        <p:nvSpPr>
          <p:cNvPr id="20" name="Text 15"/>
          <p:cNvSpPr/>
          <p:nvPr/>
        </p:nvSpPr>
        <p:spPr>
          <a:xfrm>
            <a:off x="812750" y="6111329"/>
            <a:ext cx="10784697" cy="45209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C2"/>
                </a:solidFill>
                <a:latin typeface="Poppins" pitchFamily="34" charset="0"/>
                <a:ea typeface="Poppins" pitchFamily="34" charset="-122"/>
                <a:cs typeface="Poppins" pitchFamily="34" charset="-120"/>
              </a:rPr>
              <a:t>A hypothesis with a falsification test: revise it by 2030 if the sequence does not produce durable access, funded work or policy instruments.</a:t>
            </a:r>
            <a:endParaRPr lang="en-US" sz="1200" dirty="0"/>
          </a:p>
        </p:txBody>
      </p:sp>
      <p:sp>
        <p:nvSpPr>
          <p:cNvPr id="21" name="Text 16"/>
          <p:cNvSpPr/>
          <p:nvPr/>
        </p:nvSpPr>
        <p:spPr>
          <a:xfrm>
            <a:off x="11283330" y="6217965"/>
            <a:ext cx="146571"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C2"/>
                </a:solidFill>
                <a:latin typeface="Poppins" pitchFamily="34" charset="0"/>
                <a:ea typeface="Poppins" pitchFamily="34" charset="-122"/>
                <a:cs typeface="Poppi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F6B"/>
                </a:solidFill>
                <a:latin typeface="Montserrat" pitchFamily="34" charset="0"/>
                <a:ea typeface="Montserrat" pitchFamily="34" charset="-122"/>
                <a:cs typeface="Montserrat" pitchFamily="34" charset="-120"/>
              </a:rPr>
              <a:t>WHAT TWO YEARS OF PRACTICE PRODUCED</a:t>
            </a:r>
            <a:endParaRPr lang="en-US" sz="1200" dirty="0"/>
          </a:p>
        </p:txBody>
      </p:sp>
      <p:sp>
        <p:nvSpPr>
          <p:cNvPr id="3" name="Text 1"/>
          <p:cNvSpPr/>
          <p:nvPr>
            <p:ph type="title"/>
          </p:nvPr>
        </p:nvSpPr>
        <p:spPr>
          <a:xfrm>
            <a:off x="812750" y="1254696"/>
            <a:ext cx="10883494" cy="47240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1B"/>
                </a:solidFill>
                <a:latin typeface="Montserrat" pitchFamily="34" charset="0"/>
                <a:ea typeface="Montserrat" pitchFamily="34" charset="-122"/>
                <a:cs typeface="Montserrat" pitchFamily="34" charset="-120"/>
              </a:rPr>
              <a:t>Six instruments. None needs a building.</a:t>
            </a:r>
            <a:endParaRPr lang="en-US" sz="3200" dirty="0"/>
          </a:p>
        </p:txBody>
      </p:sp>
      <p:sp>
        <p:nvSpPr>
          <p:cNvPr id="4" name="Shape 2"/>
          <p:cNvSpPr/>
          <p:nvPr/>
        </p:nvSpPr>
        <p:spPr>
          <a:xfrm>
            <a:off x="815925" y="1933476"/>
            <a:ext cx="3431133" cy="1152426"/>
          </a:xfrm>
          <a:prstGeom prst="roundRect">
            <a:avLst>
              <a:gd name="adj" fmla="val 11847"/>
            </a:avLst>
          </a:prstGeom>
          <a:solidFill>
            <a:srgbClr val="FFFFFF"/>
          </a:solidFill>
          <a:ln w="6350">
            <a:solidFill>
              <a:srgbClr val="D5E3E1"/>
            </a:solidFill>
            <a:prstDash val="solid"/>
          </a:ln>
        </p:spPr>
      </p:sp>
      <p:sp>
        <p:nvSpPr>
          <p:cNvPr id="5" name="Text 3"/>
          <p:cNvSpPr/>
          <p:nvPr/>
        </p:nvSpPr>
        <p:spPr>
          <a:xfrm>
            <a:off x="1020663" y="2125563"/>
            <a:ext cx="3112307"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E1A1B"/>
                </a:solidFill>
                <a:latin typeface="Montserrat" pitchFamily="34" charset="0"/>
                <a:ea typeface="Montserrat" pitchFamily="34" charset="-122"/>
                <a:cs typeface="Montserrat" pitchFamily="34" charset="-120"/>
              </a:rPr>
              <a:t>National forum</a:t>
            </a:r>
            <a:endParaRPr lang="en-US" sz="1800" dirty="0"/>
          </a:p>
        </p:txBody>
      </p:sp>
      <p:sp>
        <p:nvSpPr>
          <p:cNvPr id="6" name="Text 4"/>
          <p:cNvSpPr/>
          <p:nvPr/>
        </p:nvSpPr>
        <p:spPr>
          <a:xfrm>
            <a:off x="1020663" y="2464594"/>
            <a:ext cx="311230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6F6B"/>
                </a:solidFill>
                <a:latin typeface="Poppins" pitchFamily="34" charset="0"/>
                <a:ea typeface="Poppins" pitchFamily="34" charset="-122"/>
                <a:cs typeface="Poppins" pitchFamily="34" charset="-120"/>
              </a:rPr>
              <a:t>One local lead, two hours</a:t>
            </a:r>
            <a:endParaRPr lang="en-US" sz="1300" dirty="0"/>
          </a:p>
        </p:txBody>
      </p:sp>
      <p:sp>
        <p:nvSpPr>
          <p:cNvPr id="7" name="Shape 5"/>
          <p:cNvSpPr/>
          <p:nvPr/>
        </p:nvSpPr>
        <p:spPr>
          <a:xfrm>
            <a:off x="4380359" y="1933476"/>
            <a:ext cx="3431208" cy="1152426"/>
          </a:xfrm>
          <a:prstGeom prst="roundRect">
            <a:avLst>
              <a:gd name="adj" fmla="val 11847"/>
            </a:avLst>
          </a:prstGeom>
          <a:solidFill>
            <a:srgbClr val="FFFFFF"/>
          </a:solidFill>
          <a:ln w="6350">
            <a:solidFill>
              <a:srgbClr val="D5E3E1"/>
            </a:solidFill>
            <a:prstDash val="solid"/>
          </a:ln>
        </p:spPr>
      </p:sp>
      <p:sp>
        <p:nvSpPr>
          <p:cNvPr id="8" name="Text 6"/>
          <p:cNvSpPr/>
          <p:nvPr/>
        </p:nvSpPr>
        <p:spPr>
          <a:xfrm>
            <a:off x="4585097" y="2125563"/>
            <a:ext cx="311238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E1A1B"/>
                </a:solidFill>
                <a:latin typeface="Montserrat" pitchFamily="34" charset="0"/>
                <a:ea typeface="Montserrat" pitchFamily="34" charset="-122"/>
                <a:cs typeface="Montserrat" pitchFamily="34" charset="-120"/>
              </a:rPr>
              <a:t>Converted cohort</a:t>
            </a:r>
            <a:endParaRPr lang="en-US" sz="1800" dirty="0"/>
          </a:p>
        </p:txBody>
      </p:sp>
      <p:sp>
        <p:nvSpPr>
          <p:cNvPr id="9" name="Text 7"/>
          <p:cNvSpPr/>
          <p:nvPr/>
        </p:nvSpPr>
        <p:spPr>
          <a:xfrm>
            <a:off x="4585097" y="2464594"/>
            <a:ext cx="311238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6F6B"/>
                </a:solidFill>
                <a:latin typeface="Poppins" pitchFamily="34" charset="0"/>
                <a:ea typeface="Poppins" pitchFamily="34" charset="-122"/>
                <a:cs typeface="Poppins" pitchFamily="34" charset="-120"/>
              </a:rPr>
              <a:t>One coordinator on an existing course</a:t>
            </a:r>
            <a:endParaRPr lang="en-US" sz="1300" dirty="0"/>
          </a:p>
        </p:txBody>
      </p:sp>
      <p:sp>
        <p:nvSpPr>
          <p:cNvPr id="10" name="Shape 8"/>
          <p:cNvSpPr/>
          <p:nvPr/>
        </p:nvSpPr>
        <p:spPr>
          <a:xfrm>
            <a:off x="7944867" y="1933476"/>
            <a:ext cx="3431208" cy="1152426"/>
          </a:xfrm>
          <a:prstGeom prst="roundRect">
            <a:avLst>
              <a:gd name="adj" fmla="val 11847"/>
            </a:avLst>
          </a:prstGeom>
          <a:solidFill>
            <a:srgbClr val="FFFFFF"/>
          </a:solidFill>
          <a:ln w="6350">
            <a:solidFill>
              <a:srgbClr val="D5E3E1"/>
            </a:solidFill>
            <a:prstDash val="solid"/>
          </a:ln>
        </p:spPr>
      </p:sp>
      <p:sp>
        <p:nvSpPr>
          <p:cNvPr id="11" name="Text 9"/>
          <p:cNvSpPr/>
          <p:nvPr/>
        </p:nvSpPr>
        <p:spPr>
          <a:xfrm>
            <a:off x="8149605" y="2125563"/>
            <a:ext cx="311238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E1A1B"/>
                </a:solidFill>
                <a:latin typeface="Montserrat" pitchFamily="34" charset="0"/>
                <a:ea typeface="Montserrat" pitchFamily="34" charset="-122"/>
                <a:cs typeface="Montserrat" pitchFamily="34" charset="-120"/>
              </a:rPr>
              <a:t>Practitioner alliance</a:t>
            </a:r>
            <a:endParaRPr lang="en-US" sz="1800" dirty="0"/>
          </a:p>
        </p:txBody>
      </p:sp>
      <p:sp>
        <p:nvSpPr>
          <p:cNvPr id="12" name="Text 10"/>
          <p:cNvSpPr/>
          <p:nvPr/>
        </p:nvSpPr>
        <p:spPr>
          <a:xfrm>
            <a:off x="8149605" y="2464594"/>
            <a:ext cx="31123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6F6B"/>
                </a:solidFill>
                <a:latin typeface="Poppins" pitchFamily="34" charset="0"/>
                <a:ea typeface="Poppins" pitchFamily="34" charset="-122"/>
                <a:cs typeface="Poppins" pitchFamily="34" charset="-120"/>
              </a:rPr>
              <a:t>Engineers around one real problem</a:t>
            </a:r>
            <a:endParaRPr lang="en-US" sz="1300" dirty="0"/>
          </a:p>
        </p:txBody>
      </p:sp>
      <p:sp>
        <p:nvSpPr>
          <p:cNvPr id="13" name="Shape 11"/>
          <p:cNvSpPr/>
          <p:nvPr/>
        </p:nvSpPr>
        <p:spPr>
          <a:xfrm>
            <a:off x="815925" y="3219202"/>
            <a:ext cx="3431133" cy="937816"/>
          </a:xfrm>
          <a:prstGeom prst="roundRect">
            <a:avLst>
              <a:gd name="adj" fmla="val 14558"/>
            </a:avLst>
          </a:prstGeom>
          <a:solidFill>
            <a:srgbClr val="FFFFFF"/>
          </a:solidFill>
          <a:ln w="6350">
            <a:solidFill>
              <a:srgbClr val="D5E3E1"/>
            </a:solidFill>
            <a:prstDash val="solid"/>
          </a:ln>
        </p:spPr>
      </p:sp>
      <p:sp>
        <p:nvSpPr>
          <p:cNvPr id="14" name="Text 12"/>
          <p:cNvSpPr/>
          <p:nvPr/>
        </p:nvSpPr>
        <p:spPr>
          <a:xfrm>
            <a:off x="1020663" y="3411289"/>
            <a:ext cx="3112307"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E1A1B"/>
                </a:solidFill>
                <a:latin typeface="Montserrat" pitchFamily="34" charset="0"/>
                <a:ea typeface="Montserrat" pitchFamily="34" charset="-122"/>
                <a:cs typeface="Montserrat" pitchFamily="34" charset="-120"/>
              </a:rPr>
              <a:t>Standards seat</a:t>
            </a:r>
            <a:endParaRPr lang="en-US" sz="1800" dirty="0"/>
          </a:p>
        </p:txBody>
      </p:sp>
      <p:sp>
        <p:nvSpPr>
          <p:cNvPr id="15" name="Text 13"/>
          <p:cNvSpPr/>
          <p:nvPr/>
        </p:nvSpPr>
        <p:spPr>
          <a:xfrm>
            <a:off x="1020663" y="3750320"/>
            <a:ext cx="311230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6F6B"/>
                </a:solidFill>
                <a:latin typeface="Poppins" pitchFamily="34" charset="0"/>
                <a:ea typeface="Poppins" pitchFamily="34" charset="-122"/>
                <a:cs typeface="Poppins" pitchFamily="34" charset="-120"/>
              </a:rPr>
              <a:t>A named contributor and a second</a:t>
            </a:r>
            <a:endParaRPr lang="en-US" sz="1300" dirty="0"/>
          </a:p>
        </p:txBody>
      </p:sp>
      <p:sp>
        <p:nvSpPr>
          <p:cNvPr id="16" name="Shape 14"/>
          <p:cNvSpPr/>
          <p:nvPr/>
        </p:nvSpPr>
        <p:spPr>
          <a:xfrm>
            <a:off x="4380359" y="3219202"/>
            <a:ext cx="3431208" cy="937816"/>
          </a:xfrm>
          <a:prstGeom prst="roundRect">
            <a:avLst>
              <a:gd name="adj" fmla="val 14558"/>
            </a:avLst>
          </a:prstGeom>
          <a:solidFill>
            <a:srgbClr val="FFFFFF"/>
          </a:solidFill>
          <a:ln w="6350">
            <a:solidFill>
              <a:srgbClr val="D5E3E1"/>
            </a:solidFill>
            <a:prstDash val="solid"/>
          </a:ln>
        </p:spPr>
      </p:sp>
      <p:sp>
        <p:nvSpPr>
          <p:cNvPr id="17" name="Text 15"/>
          <p:cNvSpPr/>
          <p:nvPr/>
        </p:nvSpPr>
        <p:spPr>
          <a:xfrm>
            <a:off x="4585097" y="3411289"/>
            <a:ext cx="311238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E1A1B"/>
                </a:solidFill>
                <a:latin typeface="Montserrat" pitchFamily="34" charset="0"/>
                <a:ea typeface="Montserrat" pitchFamily="34" charset="-122"/>
                <a:cs typeface="Montserrat" pitchFamily="34" charset="-120"/>
              </a:rPr>
              <a:t>Weekly open room</a:t>
            </a:r>
            <a:endParaRPr lang="en-US" sz="1800" dirty="0"/>
          </a:p>
        </p:txBody>
      </p:sp>
      <p:sp>
        <p:nvSpPr>
          <p:cNvPr id="18" name="Text 16"/>
          <p:cNvSpPr/>
          <p:nvPr/>
        </p:nvSpPr>
        <p:spPr>
          <a:xfrm>
            <a:off x="4585097" y="3750320"/>
            <a:ext cx="31123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6F6B"/>
                </a:solidFill>
                <a:latin typeface="Poppins" pitchFamily="34" charset="0"/>
                <a:ea typeface="Poppins" pitchFamily="34" charset="-122"/>
                <a:cs typeface="Poppins" pitchFamily="34" charset="-120"/>
              </a:rPr>
              <a:t>One host, one recurring link</a:t>
            </a:r>
            <a:endParaRPr lang="en-US" sz="1300" dirty="0"/>
          </a:p>
        </p:txBody>
      </p:sp>
      <p:sp>
        <p:nvSpPr>
          <p:cNvPr id="19" name="Shape 17"/>
          <p:cNvSpPr/>
          <p:nvPr/>
        </p:nvSpPr>
        <p:spPr>
          <a:xfrm>
            <a:off x="7944867" y="3219202"/>
            <a:ext cx="3431208" cy="937816"/>
          </a:xfrm>
          <a:prstGeom prst="roundRect">
            <a:avLst>
              <a:gd name="adj" fmla="val 14558"/>
            </a:avLst>
          </a:prstGeom>
          <a:solidFill>
            <a:srgbClr val="FFFFFF"/>
          </a:solidFill>
          <a:ln w="6350">
            <a:solidFill>
              <a:srgbClr val="D5E3E1"/>
            </a:solidFill>
            <a:prstDash val="solid"/>
          </a:ln>
        </p:spPr>
      </p:sp>
      <p:sp>
        <p:nvSpPr>
          <p:cNvPr id="20" name="Text 18"/>
          <p:cNvSpPr/>
          <p:nvPr/>
        </p:nvSpPr>
        <p:spPr>
          <a:xfrm>
            <a:off x="8149605" y="3411289"/>
            <a:ext cx="311238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E1A1B"/>
                </a:solidFill>
                <a:latin typeface="Montserrat" pitchFamily="34" charset="0"/>
                <a:ea typeface="Montserrat" pitchFamily="34" charset="-122"/>
                <a:cs typeface="Montserrat" pitchFamily="34" charset="-120"/>
              </a:rPr>
              <a:t>Diaspora bridge</a:t>
            </a:r>
            <a:endParaRPr lang="en-US" sz="1800" dirty="0"/>
          </a:p>
        </p:txBody>
      </p:sp>
      <p:sp>
        <p:nvSpPr>
          <p:cNvPr id="21" name="Text 19"/>
          <p:cNvSpPr/>
          <p:nvPr/>
        </p:nvSpPr>
        <p:spPr>
          <a:xfrm>
            <a:off x="8149605" y="3750320"/>
            <a:ext cx="31123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6F6B"/>
                </a:solidFill>
                <a:latin typeface="Poppins" pitchFamily="34" charset="0"/>
                <a:ea typeface="Poppins" pitchFamily="34" charset="-122"/>
                <a:cs typeface="Poppins" pitchFamily="34" charset="-120"/>
              </a:rPr>
              <a:t>A host, a task, and funding</a:t>
            </a:r>
            <a:endParaRPr lang="en-US" sz="1300" dirty="0"/>
          </a:p>
        </p:txBody>
      </p:sp>
      <p:sp>
        <p:nvSpPr>
          <p:cNvPr id="22" name="Text 20"/>
          <p:cNvSpPr/>
          <p:nvPr/>
        </p:nvSpPr>
        <p:spPr>
          <a:xfrm>
            <a:off x="812750" y="6217965"/>
            <a:ext cx="10136944"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E5F"/>
                </a:solidFill>
                <a:latin typeface="Poppins" pitchFamily="34" charset="0"/>
                <a:ea typeface="Poppins" pitchFamily="34" charset="-122"/>
                <a:cs typeface="Poppins" pitchFamily="34" charset="-120"/>
              </a:rPr>
              <a:t>270 builders from 39 countries in one hackathon · 335 people from 54 countries in the weekly room · forums held in four countries.</a:t>
            </a:r>
            <a:endParaRPr lang="en-US" sz="1200" dirty="0"/>
          </a:p>
        </p:txBody>
      </p:sp>
      <p:sp>
        <p:nvSpPr>
          <p:cNvPr id="23" name="Text 21"/>
          <p:cNvSpPr/>
          <p:nvPr/>
        </p:nvSpPr>
        <p:spPr>
          <a:xfrm>
            <a:off x="11232232" y="6217965"/>
            <a:ext cx="146869"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E5F"/>
                </a:solidFill>
                <a:latin typeface="Poppins" pitchFamily="34" charset="0"/>
                <a:ea typeface="Poppins" pitchFamily="34" charset="-122"/>
                <a:cs typeface="Poppi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F20"/>
        </a:solidFill>
      </p:bgPr>
    </p:bg>
    <p:spTree>
      <p:nvGrpSpPr>
        <p:cNvPr id="1" name=""/>
        <p:cNvGrpSpPr/>
        <p:nvPr/>
      </p:nvGrpSpPr>
      <p:grpSpPr>
        <a:xfrm>
          <a:off x="0" y="0"/>
          <a:ext cx="0" cy="0"/>
          <a:chOff x="0" y="0"/>
          <a:chExt cx="0" cy="0"/>
        </a:xfrm>
      </p:grpSpPr>
      <p:sp>
        <p:nvSpPr>
          <p:cNvPr id="2" name="Text 0"/>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7E3DC"/>
                </a:solidFill>
                <a:latin typeface="Montserrat" pitchFamily="34" charset="0"/>
                <a:ea typeface="Montserrat" pitchFamily="34" charset="-122"/>
                <a:cs typeface="Montserrat" pitchFamily="34" charset="-120"/>
              </a:rPr>
              <a:t>WHAT WE ASK OF ANY COUNTRY — OR ANY UNIVERSITY</a:t>
            </a:r>
            <a:endParaRPr lang="en-US" sz="1200" dirty="0"/>
          </a:p>
        </p:txBody>
      </p:sp>
      <p:sp>
        <p:nvSpPr>
          <p:cNvPr id="3" name="Text 1"/>
          <p:cNvSpPr/>
          <p:nvPr>
            <p:ph type="title"/>
          </p:nvPr>
        </p:nvSpPr>
        <p:spPr>
          <a:xfrm>
            <a:off x="812750" y="1254696"/>
            <a:ext cx="10883494" cy="91941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AF9"/>
                </a:solidFill>
                <a:latin typeface="Montserrat" pitchFamily="34" charset="0"/>
                <a:ea typeface="Montserrat" pitchFamily="34" charset="-122"/>
                <a:cs typeface="Montserrat" pitchFamily="34" charset="-120"/>
              </a:rPr>
              <a:t>Seven artifacts. Twelve months. No machine required.</a:t>
            </a:r>
            <a:endParaRPr lang="en-US" sz="3200" dirty="0"/>
          </a:p>
        </p:txBody>
      </p:sp>
      <p:sp>
        <p:nvSpPr>
          <p:cNvPr id="4" name="Shape 2"/>
          <p:cNvSpPr/>
          <p:nvPr/>
        </p:nvSpPr>
        <p:spPr>
          <a:xfrm>
            <a:off x="815925" y="2380481"/>
            <a:ext cx="5226075" cy="602506"/>
          </a:xfrm>
          <a:prstGeom prst="roundRect">
            <a:avLst>
              <a:gd name="adj" fmla="val 20552"/>
            </a:avLst>
          </a:prstGeom>
          <a:solidFill>
            <a:srgbClr val="143A3A"/>
          </a:solidFill>
          <a:ln w="6350">
            <a:solidFill>
              <a:srgbClr val="1F4B4B"/>
            </a:solidFill>
            <a:prstDash val="solid"/>
          </a:ln>
        </p:spPr>
      </p:sp>
      <p:sp>
        <p:nvSpPr>
          <p:cNvPr id="5" name="Text 3"/>
          <p:cNvSpPr/>
          <p:nvPr/>
        </p:nvSpPr>
        <p:spPr>
          <a:xfrm>
            <a:off x="1008013" y="2521744"/>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7E3DC"/>
                </a:solidFill>
                <a:latin typeface="Montserrat" pitchFamily="34" charset="0"/>
                <a:ea typeface="Montserrat" pitchFamily="34" charset="-122"/>
                <a:cs typeface="Montserrat" pitchFamily="34" charset="-120"/>
              </a:rPr>
              <a:t>1</a:t>
            </a:r>
            <a:endParaRPr lang="en-US" sz="1800" dirty="0"/>
          </a:p>
        </p:txBody>
      </p:sp>
      <p:sp>
        <p:nvSpPr>
          <p:cNvPr id="6" name="Text 4"/>
          <p:cNvSpPr/>
          <p:nvPr/>
        </p:nvSpPr>
        <p:spPr>
          <a:xfrm>
            <a:off x="1452488" y="2559769"/>
            <a:ext cx="4529347" cy="26925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AF9"/>
                </a:solidFill>
                <a:latin typeface="Montserrat" pitchFamily="34" charset="0"/>
                <a:ea typeface="Montserrat" pitchFamily="34" charset="-122"/>
                <a:cs typeface="Montserrat" pitchFamily="34" charset="-120"/>
              </a:rPr>
              <a:t>A capacity map</a:t>
            </a:r>
            <a:endParaRPr lang="en-US" sz="1600" dirty="0"/>
          </a:p>
        </p:txBody>
      </p:sp>
      <p:sp>
        <p:nvSpPr>
          <p:cNvPr id="7" name="Shape 5"/>
          <p:cNvSpPr/>
          <p:nvPr/>
        </p:nvSpPr>
        <p:spPr>
          <a:xfrm>
            <a:off x="6149925" y="2380481"/>
            <a:ext cx="5226149" cy="602506"/>
          </a:xfrm>
          <a:prstGeom prst="roundRect">
            <a:avLst>
              <a:gd name="adj" fmla="val 20552"/>
            </a:avLst>
          </a:prstGeom>
          <a:solidFill>
            <a:srgbClr val="143A3A"/>
          </a:solidFill>
          <a:ln w="6350">
            <a:solidFill>
              <a:srgbClr val="1F4B4B"/>
            </a:solidFill>
            <a:prstDash val="solid"/>
          </a:ln>
        </p:spPr>
      </p:sp>
      <p:sp>
        <p:nvSpPr>
          <p:cNvPr id="8" name="Text 6"/>
          <p:cNvSpPr/>
          <p:nvPr/>
        </p:nvSpPr>
        <p:spPr>
          <a:xfrm>
            <a:off x="6342013" y="2521744"/>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7E3DC"/>
                </a:solidFill>
                <a:latin typeface="Montserrat" pitchFamily="34" charset="0"/>
                <a:ea typeface="Montserrat" pitchFamily="34" charset="-122"/>
                <a:cs typeface="Montserrat" pitchFamily="34" charset="-120"/>
              </a:rPr>
              <a:t>2</a:t>
            </a:r>
            <a:endParaRPr lang="en-US" sz="1800" dirty="0"/>
          </a:p>
        </p:txBody>
      </p:sp>
      <p:sp>
        <p:nvSpPr>
          <p:cNvPr id="9" name="Text 7"/>
          <p:cNvSpPr/>
          <p:nvPr/>
        </p:nvSpPr>
        <p:spPr>
          <a:xfrm>
            <a:off x="6786488" y="2559769"/>
            <a:ext cx="4529424" cy="26925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AF9"/>
                </a:solidFill>
                <a:latin typeface="Montserrat" pitchFamily="34" charset="0"/>
                <a:ea typeface="Montserrat" pitchFamily="34" charset="-122"/>
                <a:cs typeface="Montserrat" pitchFamily="34" charset="-120"/>
              </a:rPr>
              <a:t>A priority note — with a “not now” list</a:t>
            </a:r>
            <a:endParaRPr lang="en-US" sz="1600" dirty="0"/>
          </a:p>
        </p:txBody>
      </p:sp>
      <p:sp>
        <p:nvSpPr>
          <p:cNvPr id="10" name="Shape 8"/>
          <p:cNvSpPr/>
          <p:nvPr/>
        </p:nvSpPr>
        <p:spPr>
          <a:xfrm>
            <a:off x="815925" y="3090912"/>
            <a:ext cx="5226075" cy="602506"/>
          </a:xfrm>
          <a:prstGeom prst="roundRect">
            <a:avLst>
              <a:gd name="adj" fmla="val 20552"/>
            </a:avLst>
          </a:prstGeom>
          <a:solidFill>
            <a:srgbClr val="143A3A"/>
          </a:solidFill>
          <a:ln w="6350">
            <a:solidFill>
              <a:srgbClr val="1F4B4B"/>
            </a:solidFill>
            <a:prstDash val="solid"/>
          </a:ln>
        </p:spPr>
      </p:sp>
      <p:sp>
        <p:nvSpPr>
          <p:cNvPr id="11" name="Text 9"/>
          <p:cNvSpPr/>
          <p:nvPr/>
        </p:nvSpPr>
        <p:spPr>
          <a:xfrm>
            <a:off x="1008013" y="3232175"/>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7E3DC"/>
                </a:solidFill>
                <a:latin typeface="Montserrat" pitchFamily="34" charset="0"/>
                <a:ea typeface="Montserrat" pitchFamily="34" charset="-122"/>
                <a:cs typeface="Montserrat" pitchFamily="34" charset="-120"/>
              </a:rPr>
              <a:t>3</a:t>
            </a:r>
            <a:endParaRPr lang="en-US" sz="1800" dirty="0"/>
          </a:p>
        </p:txBody>
      </p:sp>
      <p:sp>
        <p:nvSpPr>
          <p:cNvPr id="12" name="Text 10"/>
          <p:cNvSpPr/>
          <p:nvPr/>
        </p:nvSpPr>
        <p:spPr>
          <a:xfrm>
            <a:off x="1452488" y="3270200"/>
            <a:ext cx="4529347" cy="26925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AF9"/>
                </a:solidFill>
                <a:latin typeface="Montserrat" pitchFamily="34" charset="0"/>
                <a:ea typeface="Montserrat" pitchFamily="34" charset="-122"/>
                <a:cs typeface="Montserrat" pitchFamily="34" charset="-120"/>
              </a:rPr>
              <a:t>One cryptographic inventory pilot</a:t>
            </a:r>
            <a:endParaRPr lang="en-US" sz="1600" dirty="0"/>
          </a:p>
        </p:txBody>
      </p:sp>
      <p:sp>
        <p:nvSpPr>
          <p:cNvPr id="13" name="Shape 11"/>
          <p:cNvSpPr/>
          <p:nvPr/>
        </p:nvSpPr>
        <p:spPr>
          <a:xfrm>
            <a:off x="6149925" y="3090912"/>
            <a:ext cx="5226149" cy="602506"/>
          </a:xfrm>
          <a:prstGeom prst="roundRect">
            <a:avLst>
              <a:gd name="adj" fmla="val 20552"/>
            </a:avLst>
          </a:prstGeom>
          <a:solidFill>
            <a:srgbClr val="143A3A"/>
          </a:solidFill>
          <a:ln w="6350">
            <a:solidFill>
              <a:srgbClr val="1F4B4B"/>
            </a:solidFill>
            <a:prstDash val="solid"/>
          </a:ln>
        </p:spPr>
      </p:sp>
      <p:sp>
        <p:nvSpPr>
          <p:cNvPr id="14" name="Text 12"/>
          <p:cNvSpPr/>
          <p:nvPr/>
        </p:nvSpPr>
        <p:spPr>
          <a:xfrm>
            <a:off x="6342013" y="3232175"/>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7E3DC"/>
                </a:solidFill>
                <a:latin typeface="Montserrat" pitchFamily="34" charset="0"/>
                <a:ea typeface="Montserrat" pitchFamily="34" charset="-122"/>
                <a:cs typeface="Montserrat" pitchFamily="34" charset="-120"/>
              </a:rPr>
              <a:t>4</a:t>
            </a:r>
            <a:endParaRPr lang="en-US" sz="1800" dirty="0"/>
          </a:p>
        </p:txBody>
      </p:sp>
      <p:sp>
        <p:nvSpPr>
          <p:cNvPr id="15" name="Text 13"/>
          <p:cNvSpPr/>
          <p:nvPr/>
        </p:nvSpPr>
        <p:spPr>
          <a:xfrm>
            <a:off x="6786488" y="3270200"/>
            <a:ext cx="4529424" cy="26925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AF9"/>
                </a:solidFill>
                <a:latin typeface="Montserrat" pitchFamily="34" charset="0"/>
                <a:ea typeface="Montserrat" pitchFamily="34" charset="-122"/>
                <a:cs typeface="Montserrat" pitchFamily="34" charset="-120"/>
              </a:rPr>
              <a:t>One institutional access pathway</a:t>
            </a:r>
            <a:endParaRPr lang="en-US" sz="1600" dirty="0"/>
          </a:p>
        </p:txBody>
      </p:sp>
      <p:sp>
        <p:nvSpPr>
          <p:cNvPr id="16" name="Shape 14"/>
          <p:cNvSpPr/>
          <p:nvPr/>
        </p:nvSpPr>
        <p:spPr>
          <a:xfrm>
            <a:off x="815925" y="3801343"/>
            <a:ext cx="5226075" cy="602506"/>
          </a:xfrm>
          <a:prstGeom prst="roundRect">
            <a:avLst>
              <a:gd name="adj" fmla="val 20552"/>
            </a:avLst>
          </a:prstGeom>
          <a:solidFill>
            <a:srgbClr val="143A3A"/>
          </a:solidFill>
          <a:ln w="6350">
            <a:solidFill>
              <a:srgbClr val="1F4B4B"/>
            </a:solidFill>
            <a:prstDash val="solid"/>
          </a:ln>
        </p:spPr>
      </p:sp>
      <p:sp>
        <p:nvSpPr>
          <p:cNvPr id="17" name="Text 15"/>
          <p:cNvSpPr/>
          <p:nvPr/>
        </p:nvSpPr>
        <p:spPr>
          <a:xfrm>
            <a:off x="1008013" y="3942606"/>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7E3DC"/>
                </a:solidFill>
                <a:latin typeface="Montserrat" pitchFamily="34" charset="0"/>
                <a:ea typeface="Montserrat" pitchFamily="34" charset="-122"/>
                <a:cs typeface="Montserrat" pitchFamily="34" charset="-120"/>
              </a:rPr>
              <a:t>5</a:t>
            </a:r>
            <a:endParaRPr lang="en-US" sz="1800" dirty="0"/>
          </a:p>
        </p:txBody>
      </p:sp>
      <p:sp>
        <p:nvSpPr>
          <p:cNvPr id="18" name="Text 16"/>
          <p:cNvSpPr/>
          <p:nvPr/>
        </p:nvSpPr>
        <p:spPr>
          <a:xfrm>
            <a:off x="1452488" y="3980631"/>
            <a:ext cx="4529347" cy="26925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AF9"/>
                </a:solidFill>
                <a:latin typeface="Montserrat" pitchFamily="34" charset="0"/>
                <a:ea typeface="Montserrat" pitchFamily="34" charset="-122"/>
                <a:cs typeface="Montserrat" pitchFamily="34" charset="-120"/>
              </a:rPr>
              <a:t>One repeatable talent pathway</a:t>
            </a:r>
            <a:endParaRPr lang="en-US" sz="1600" dirty="0"/>
          </a:p>
        </p:txBody>
      </p:sp>
      <p:sp>
        <p:nvSpPr>
          <p:cNvPr id="19" name="Shape 17"/>
          <p:cNvSpPr/>
          <p:nvPr/>
        </p:nvSpPr>
        <p:spPr>
          <a:xfrm>
            <a:off x="6149925" y="3801343"/>
            <a:ext cx="5226149" cy="602506"/>
          </a:xfrm>
          <a:prstGeom prst="roundRect">
            <a:avLst>
              <a:gd name="adj" fmla="val 20552"/>
            </a:avLst>
          </a:prstGeom>
          <a:solidFill>
            <a:srgbClr val="143A3A"/>
          </a:solidFill>
          <a:ln w="6350">
            <a:solidFill>
              <a:srgbClr val="1F4B4B"/>
            </a:solidFill>
            <a:prstDash val="solid"/>
          </a:ln>
        </p:spPr>
      </p:sp>
      <p:sp>
        <p:nvSpPr>
          <p:cNvPr id="20" name="Text 18"/>
          <p:cNvSpPr/>
          <p:nvPr/>
        </p:nvSpPr>
        <p:spPr>
          <a:xfrm>
            <a:off x="6342013" y="3942606"/>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7E3DC"/>
                </a:solidFill>
                <a:latin typeface="Montserrat" pitchFamily="34" charset="0"/>
                <a:ea typeface="Montserrat" pitchFamily="34" charset="-122"/>
                <a:cs typeface="Montserrat" pitchFamily="34" charset="-120"/>
              </a:rPr>
              <a:t>6</a:t>
            </a:r>
            <a:endParaRPr lang="en-US" sz="1800" dirty="0"/>
          </a:p>
        </p:txBody>
      </p:sp>
      <p:sp>
        <p:nvSpPr>
          <p:cNvPr id="21" name="Text 19"/>
          <p:cNvSpPr/>
          <p:nvPr/>
        </p:nvSpPr>
        <p:spPr>
          <a:xfrm>
            <a:off x="6786488" y="3980631"/>
            <a:ext cx="4529424" cy="26925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AF9"/>
                </a:solidFill>
                <a:latin typeface="Montserrat" pitchFamily="34" charset="0"/>
                <a:ea typeface="Montserrat" pitchFamily="34" charset="-122"/>
                <a:cs typeface="Montserrat" pitchFamily="34" charset="-120"/>
              </a:rPr>
              <a:t>A representation register, with seconds</a:t>
            </a:r>
            <a:endParaRPr lang="en-US" sz="1600" dirty="0"/>
          </a:p>
        </p:txBody>
      </p:sp>
      <p:sp>
        <p:nvSpPr>
          <p:cNvPr id="22" name="Shape 20"/>
          <p:cNvSpPr/>
          <p:nvPr/>
        </p:nvSpPr>
        <p:spPr>
          <a:xfrm>
            <a:off x="815925" y="4511774"/>
            <a:ext cx="5226075" cy="602506"/>
          </a:xfrm>
          <a:prstGeom prst="roundRect">
            <a:avLst>
              <a:gd name="adj" fmla="val 20552"/>
            </a:avLst>
          </a:prstGeom>
          <a:solidFill>
            <a:srgbClr val="143A3A"/>
          </a:solidFill>
          <a:ln w="6350">
            <a:solidFill>
              <a:srgbClr val="1F4B4B"/>
            </a:solidFill>
            <a:prstDash val="solid"/>
          </a:ln>
        </p:spPr>
      </p:sp>
      <p:sp>
        <p:nvSpPr>
          <p:cNvPr id="23" name="Text 21"/>
          <p:cNvSpPr/>
          <p:nvPr/>
        </p:nvSpPr>
        <p:spPr>
          <a:xfrm>
            <a:off x="1008013" y="4653037"/>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7E3DC"/>
                </a:solidFill>
                <a:latin typeface="Montserrat" pitchFamily="34" charset="0"/>
                <a:ea typeface="Montserrat" pitchFamily="34" charset="-122"/>
                <a:cs typeface="Montserrat" pitchFamily="34" charset="-120"/>
              </a:rPr>
              <a:t>7</a:t>
            </a:r>
            <a:endParaRPr lang="en-US" sz="1800" dirty="0"/>
          </a:p>
        </p:txBody>
      </p:sp>
      <p:sp>
        <p:nvSpPr>
          <p:cNvPr id="24" name="Text 22"/>
          <p:cNvSpPr/>
          <p:nvPr/>
        </p:nvSpPr>
        <p:spPr>
          <a:xfrm>
            <a:off x="1452488" y="4691063"/>
            <a:ext cx="4529347" cy="26925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AF9"/>
                </a:solidFill>
                <a:latin typeface="Montserrat" pitchFamily="34" charset="0"/>
                <a:ea typeface="Montserrat" pitchFamily="34" charset="-122"/>
                <a:cs typeface="Montserrat" pitchFamily="34" charset="-120"/>
              </a:rPr>
              <a:t>A named owner and a decision date</a:t>
            </a:r>
            <a:endParaRPr lang="en-US" sz="1600" dirty="0"/>
          </a:p>
        </p:txBody>
      </p:sp>
      <p:sp>
        <p:nvSpPr>
          <p:cNvPr id="25" name="Text 23"/>
          <p:cNvSpPr/>
          <p:nvPr/>
        </p:nvSpPr>
        <p:spPr>
          <a:xfrm>
            <a:off x="812750" y="6217965"/>
            <a:ext cx="3612326"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C2"/>
                </a:solidFill>
                <a:latin typeface="Poppins" pitchFamily="34" charset="0"/>
                <a:ea typeface="Poppins" pitchFamily="34" charset="-122"/>
                <a:cs typeface="Poppins" pitchFamily="34" charset="-120"/>
              </a:rPr>
              <a:t>Quantum in Africa · University of Ibadan</a:t>
            </a:r>
            <a:endParaRPr lang="en-US" sz="1200" dirty="0"/>
          </a:p>
        </p:txBody>
      </p:sp>
      <p:sp>
        <p:nvSpPr>
          <p:cNvPr id="26" name="Text 24"/>
          <p:cNvSpPr/>
          <p:nvPr/>
        </p:nvSpPr>
        <p:spPr>
          <a:xfrm>
            <a:off x="11183789" y="6217965"/>
            <a:ext cx="195312"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C2"/>
                </a:solidFill>
                <a:latin typeface="Poppins" pitchFamily="34" charset="0"/>
                <a:ea typeface="Poppins" pitchFamily="34" charset="-122"/>
                <a:cs typeface="Poppi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750" y="812750"/>
            <a:ext cx="10883494" cy="23874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F6B"/>
                </a:solidFill>
                <a:latin typeface="Montserrat" pitchFamily="34" charset="0"/>
                <a:ea typeface="Montserrat" pitchFamily="34" charset="-122"/>
                <a:cs typeface="Montserrat" pitchFamily="34" charset="-120"/>
              </a:rPr>
              <a:t>WHERE YOU COME IN</a:t>
            </a:r>
            <a:endParaRPr lang="en-US" sz="1200" dirty="0"/>
          </a:p>
        </p:txBody>
      </p:sp>
      <p:sp>
        <p:nvSpPr>
          <p:cNvPr id="3" name="Text 1"/>
          <p:cNvSpPr/>
          <p:nvPr>
            <p:ph type="title"/>
          </p:nvPr>
        </p:nvSpPr>
        <p:spPr>
          <a:xfrm>
            <a:off x="812750" y="1254696"/>
            <a:ext cx="10883494" cy="47240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1B"/>
                </a:solidFill>
                <a:latin typeface="Montserrat" pitchFamily="34" charset="0"/>
                <a:ea typeface="Montserrat" pitchFamily="34" charset="-122"/>
                <a:cs typeface="Montserrat" pitchFamily="34" charset="-120"/>
              </a:rPr>
              <a:t>Available opportunities, by who you are</a:t>
            </a:r>
            <a:endParaRPr lang="en-US" sz="3200" dirty="0"/>
          </a:p>
        </p:txBody>
      </p:sp>
      <p:sp>
        <p:nvSpPr>
          <p:cNvPr id="4" name="Shape 2"/>
          <p:cNvSpPr/>
          <p:nvPr/>
        </p:nvSpPr>
        <p:spPr>
          <a:xfrm>
            <a:off x="815925" y="1933476"/>
            <a:ext cx="3431133" cy="1223491"/>
          </a:xfrm>
          <a:prstGeom prst="roundRect">
            <a:avLst>
              <a:gd name="adj" fmla="val 11159"/>
            </a:avLst>
          </a:prstGeom>
          <a:solidFill>
            <a:srgbClr val="FFFFFF"/>
          </a:solidFill>
          <a:ln w="6350">
            <a:solidFill>
              <a:srgbClr val="D5E3E1"/>
            </a:solidFill>
            <a:prstDash val="solid"/>
          </a:ln>
        </p:spPr>
      </p:sp>
      <p:sp>
        <p:nvSpPr>
          <p:cNvPr id="5" name="Shape 3"/>
          <p:cNvSpPr/>
          <p:nvPr/>
        </p:nvSpPr>
        <p:spPr>
          <a:xfrm>
            <a:off x="1020663" y="2112838"/>
            <a:ext cx="330175" cy="330175"/>
          </a:xfrm>
          <a:prstGeom prst="roundRect">
            <a:avLst>
              <a:gd name="adj" fmla="val 50000"/>
            </a:avLst>
          </a:prstGeom>
          <a:solidFill>
            <a:srgbClr val="0B6F6B"/>
          </a:solidFill>
          <a:ln/>
        </p:spPr>
      </p:sp>
      <p:pic>
        <p:nvPicPr>
          <p:cNvPr id="6" name="Image 0" descr="GraduationCap">    </p:cNvPr>
          <p:cNvPicPr>
            <a:picLocks noChangeAspect="1"/>
          </p:cNvPicPr>
          <p:nvPr/>
        </p:nvPicPr>
        <p:blipFill>
          <a:blip r:embed="rId1"/>
          <a:srcRect l="0" r="0" t="0" b="0"/>
          <a:stretch/>
        </p:blipFill>
        <p:spPr>
          <a:xfrm>
            <a:off x="1090464" y="2182639"/>
            <a:ext cx="190500" cy="190500"/>
          </a:xfrm>
          <a:prstGeom prst="rect">
            <a:avLst/>
          </a:prstGeom>
        </p:spPr>
      </p:pic>
      <p:sp>
        <p:nvSpPr>
          <p:cNvPr id="7" name="Text 4"/>
          <p:cNvSpPr/>
          <p:nvPr/>
        </p:nvSpPr>
        <p:spPr>
          <a:xfrm>
            <a:off x="1465138" y="2168351"/>
            <a:ext cx="2654498"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0E1A1B"/>
                </a:solidFill>
                <a:latin typeface="Montserrat" pitchFamily="34" charset="0"/>
                <a:ea typeface="Montserrat" pitchFamily="34" charset="-122"/>
                <a:cs typeface="Montserrat" pitchFamily="34" charset="-120"/>
              </a:rPr>
              <a:t>Students</a:t>
            </a:r>
            <a:endParaRPr lang="en-US" sz="1500" dirty="0"/>
          </a:p>
        </p:txBody>
      </p:sp>
      <p:sp>
        <p:nvSpPr>
          <p:cNvPr id="8" name="Text 5"/>
          <p:cNvSpPr/>
          <p:nvPr/>
        </p:nvSpPr>
        <p:spPr>
          <a:xfrm>
            <a:off x="1020663" y="2531864"/>
            <a:ext cx="3112307" cy="4711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E5F"/>
                </a:solidFill>
                <a:latin typeface="Poppins" pitchFamily="34" charset="0"/>
                <a:ea typeface="Poppins" pitchFamily="34" charset="-122"/>
                <a:cs typeface="Poppins" pitchFamily="34" charset="-120"/>
              </a:rPr>
              <a:t>The weekly room, a cohort, and one issue in an open project.</a:t>
            </a:r>
            <a:endParaRPr lang="en-US" sz="1300" dirty="0"/>
          </a:p>
        </p:txBody>
      </p:sp>
      <p:sp>
        <p:nvSpPr>
          <p:cNvPr id="9" name="Shape 6"/>
          <p:cNvSpPr/>
          <p:nvPr/>
        </p:nvSpPr>
        <p:spPr>
          <a:xfrm>
            <a:off x="4380359" y="1933476"/>
            <a:ext cx="3431208" cy="1223491"/>
          </a:xfrm>
          <a:prstGeom prst="roundRect">
            <a:avLst>
              <a:gd name="adj" fmla="val 11159"/>
            </a:avLst>
          </a:prstGeom>
          <a:solidFill>
            <a:srgbClr val="FFFFFF"/>
          </a:solidFill>
          <a:ln w="6350">
            <a:solidFill>
              <a:srgbClr val="D5E3E1"/>
            </a:solidFill>
            <a:prstDash val="solid"/>
          </a:ln>
        </p:spPr>
      </p:sp>
      <p:sp>
        <p:nvSpPr>
          <p:cNvPr id="10" name="Shape 7"/>
          <p:cNvSpPr/>
          <p:nvPr/>
        </p:nvSpPr>
        <p:spPr>
          <a:xfrm>
            <a:off x="4585097" y="2112838"/>
            <a:ext cx="330175" cy="330175"/>
          </a:xfrm>
          <a:prstGeom prst="roundRect">
            <a:avLst>
              <a:gd name="adj" fmla="val 50000"/>
            </a:avLst>
          </a:prstGeom>
          <a:solidFill>
            <a:srgbClr val="0B6F6B"/>
          </a:solidFill>
          <a:ln/>
        </p:spPr>
      </p:sp>
      <p:pic>
        <p:nvPicPr>
          <p:cNvPr id="11" name="Image 1" descr="Book">    </p:cNvPr>
          <p:cNvPicPr>
            <a:picLocks noChangeAspect="1"/>
          </p:cNvPicPr>
          <p:nvPr/>
        </p:nvPicPr>
        <p:blipFill>
          <a:blip r:embed="rId2"/>
          <a:srcRect l="0" r="0" t="0" b="0"/>
          <a:stretch/>
        </p:blipFill>
        <p:spPr>
          <a:xfrm>
            <a:off x="4654897" y="2182639"/>
            <a:ext cx="190500" cy="190500"/>
          </a:xfrm>
          <a:prstGeom prst="rect">
            <a:avLst/>
          </a:prstGeom>
        </p:spPr>
      </p:pic>
      <p:sp>
        <p:nvSpPr>
          <p:cNvPr id="12" name="Text 8"/>
          <p:cNvSpPr/>
          <p:nvPr/>
        </p:nvSpPr>
        <p:spPr>
          <a:xfrm>
            <a:off x="5029572" y="2168351"/>
            <a:ext cx="2654574"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0E1A1B"/>
                </a:solidFill>
                <a:latin typeface="Montserrat" pitchFamily="34" charset="0"/>
                <a:ea typeface="Montserrat" pitchFamily="34" charset="-122"/>
                <a:cs typeface="Montserrat" pitchFamily="34" charset="-120"/>
              </a:rPr>
              <a:t>Lecturers</a:t>
            </a:r>
            <a:endParaRPr lang="en-US" sz="1500" dirty="0"/>
          </a:p>
        </p:txBody>
      </p:sp>
      <p:sp>
        <p:nvSpPr>
          <p:cNvPr id="13" name="Text 9"/>
          <p:cNvSpPr/>
          <p:nvPr/>
        </p:nvSpPr>
        <p:spPr>
          <a:xfrm>
            <a:off x="4585097" y="2531864"/>
            <a:ext cx="3112384" cy="4711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E5F"/>
                </a:solidFill>
                <a:latin typeface="Poppins" pitchFamily="34" charset="0"/>
                <a:ea typeface="Poppins" pitchFamily="34" charset="-122"/>
                <a:cs typeface="Poppins" pitchFamily="34" charset="-120"/>
              </a:rPr>
              <a:t>One recurring module or lab, with completion records.</a:t>
            </a:r>
            <a:endParaRPr lang="en-US" sz="1300" dirty="0"/>
          </a:p>
        </p:txBody>
      </p:sp>
      <p:sp>
        <p:nvSpPr>
          <p:cNvPr id="14" name="Shape 10"/>
          <p:cNvSpPr/>
          <p:nvPr/>
        </p:nvSpPr>
        <p:spPr>
          <a:xfrm>
            <a:off x="7944867" y="1933476"/>
            <a:ext cx="3431208" cy="1223491"/>
          </a:xfrm>
          <a:prstGeom prst="roundRect">
            <a:avLst>
              <a:gd name="adj" fmla="val 11159"/>
            </a:avLst>
          </a:prstGeom>
          <a:solidFill>
            <a:srgbClr val="FFFFFF"/>
          </a:solidFill>
          <a:ln w="6350">
            <a:solidFill>
              <a:srgbClr val="D5E3E1"/>
            </a:solidFill>
            <a:prstDash val="solid"/>
          </a:ln>
        </p:spPr>
      </p:sp>
      <p:sp>
        <p:nvSpPr>
          <p:cNvPr id="15" name="Shape 11"/>
          <p:cNvSpPr/>
          <p:nvPr/>
        </p:nvSpPr>
        <p:spPr>
          <a:xfrm>
            <a:off x="8149605" y="2112838"/>
            <a:ext cx="330175" cy="330175"/>
          </a:xfrm>
          <a:prstGeom prst="roundRect">
            <a:avLst>
              <a:gd name="adj" fmla="val 50000"/>
            </a:avLst>
          </a:prstGeom>
          <a:solidFill>
            <a:srgbClr val="0B6F6B"/>
          </a:solidFill>
          <a:ln/>
        </p:spPr>
      </p:sp>
      <p:pic>
        <p:nvPicPr>
          <p:cNvPr id="16" name="Image 2" descr="Chart">    </p:cNvPr>
          <p:cNvPicPr>
            <a:picLocks noChangeAspect="1"/>
          </p:cNvPicPr>
          <p:nvPr/>
        </p:nvPicPr>
        <p:blipFill>
          <a:blip r:embed="rId3"/>
          <a:srcRect l="0" r="0" t="0" b="0"/>
          <a:stretch/>
        </p:blipFill>
        <p:spPr>
          <a:xfrm>
            <a:off x="8219405" y="2182639"/>
            <a:ext cx="190500" cy="190500"/>
          </a:xfrm>
          <a:prstGeom prst="rect">
            <a:avLst/>
          </a:prstGeom>
        </p:spPr>
      </p:pic>
      <p:sp>
        <p:nvSpPr>
          <p:cNvPr id="17" name="Text 12"/>
          <p:cNvSpPr/>
          <p:nvPr/>
        </p:nvSpPr>
        <p:spPr>
          <a:xfrm>
            <a:off x="8594080" y="2168351"/>
            <a:ext cx="2654574"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0E1A1B"/>
                </a:solidFill>
                <a:latin typeface="Montserrat" pitchFamily="34" charset="0"/>
                <a:ea typeface="Montserrat" pitchFamily="34" charset="-122"/>
                <a:cs typeface="Montserrat" pitchFamily="34" charset="-120"/>
              </a:rPr>
              <a:t>Researchers</a:t>
            </a:r>
            <a:endParaRPr lang="en-US" sz="1500" dirty="0"/>
          </a:p>
        </p:txBody>
      </p:sp>
      <p:sp>
        <p:nvSpPr>
          <p:cNvPr id="18" name="Text 13"/>
          <p:cNvSpPr/>
          <p:nvPr/>
        </p:nvSpPr>
        <p:spPr>
          <a:xfrm>
            <a:off x="8149605" y="2531864"/>
            <a:ext cx="3112384" cy="4711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E5F"/>
                </a:solidFill>
                <a:latin typeface="Poppins" pitchFamily="34" charset="0"/>
                <a:ea typeface="Poppins" pitchFamily="34" charset="-122"/>
                <a:cs typeface="Poppins" pitchFamily="34" charset="-120"/>
              </a:rPr>
              <a:t>Co-author the next readiness snapshot with us.</a:t>
            </a:r>
            <a:endParaRPr lang="en-US" sz="1300" dirty="0"/>
          </a:p>
        </p:txBody>
      </p:sp>
      <p:sp>
        <p:nvSpPr>
          <p:cNvPr id="19" name="Shape 14"/>
          <p:cNvSpPr/>
          <p:nvPr/>
        </p:nvSpPr>
        <p:spPr>
          <a:xfrm>
            <a:off x="815925" y="3290267"/>
            <a:ext cx="3431133" cy="1446361"/>
          </a:xfrm>
          <a:prstGeom prst="roundRect">
            <a:avLst>
              <a:gd name="adj" fmla="val 9439"/>
            </a:avLst>
          </a:prstGeom>
          <a:solidFill>
            <a:srgbClr val="FFFFFF"/>
          </a:solidFill>
          <a:ln w="6350">
            <a:solidFill>
              <a:srgbClr val="D5E3E1"/>
            </a:solidFill>
            <a:prstDash val="solid"/>
          </a:ln>
        </p:spPr>
      </p:sp>
      <p:sp>
        <p:nvSpPr>
          <p:cNvPr id="20" name="Shape 15"/>
          <p:cNvSpPr/>
          <p:nvPr/>
        </p:nvSpPr>
        <p:spPr>
          <a:xfrm>
            <a:off x="1020663" y="3469630"/>
            <a:ext cx="330175" cy="330175"/>
          </a:xfrm>
          <a:prstGeom prst="roundRect">
            <a:avLst>
              <a:gd name="adj" fmla="val 50000"/>
            </a:avLst>
          </a:prstGeom>
          <a:solidFill>
            <a:srgbClr val="0B6F6B"/>
          </a:solidFill>
          <a:ln/>
        </p:spPr>
      </p:sp>
      <p:pic>
        <p:nvPicPr>
          <p:cNvPr id="21" name="Image 3" descr="Lock">    </p:cNvPr>
          <p:cNvPicPr>
            <a:picLocks noChangeAspect="1"/>
          </p:cNvPicPr>
          <p:nvPr/>
        </p:nvPicPr>
        <p:blipFill>
          <a:blip r:embed="rId4"/>
          <a:srcRect l="0" r="0" t="0" b="0"/>
          <a:stretch/>
        </p:blipFill>
        <p:spPr>
          <a:xfrm>
            <a:off x="1090464" y="3539430"/>
            <a:ext cx="190500" cy="190500"/>
          </a:xfrm>
          <a:prstGeom prst="rect">
            <a:avLst/>
          </a:prstGeom>
        </p:spPr>
      </p:pic>
      <p:sp>
        <p:nvSpPr>
          <p:cNvPr id="22" name="Text 16"/>
          <p:cNvSpPr/>
          <p:nvPr/>
        </p:nvSpPr>
        <p:spPr>
          <a:xfrm>
            <a:off x="1465138" y="3525143"/>
            <a:ext cx="2654498"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0E1A1B"/>
                </a:solidFill>
                <a:latin typeface="Montserrat" pitchFamily="34" charset="0"/>
                <a:ea typeface="Montserrat" pitchFamily="34" charset="-122"/>
                <a:cs typeface="Montserrat" pitchFamily="34" charset="-120"/>
              </a:rPr>
              <a:t>Security and IT</a:t>
            </a:r>
            <a:endParaRPr lang="en-US" sz="1500" dirty="0"/>
          </a:p>
        </p:txBody>
      </p:sp>
      <p:sp>
        <p:nvSpPr>
          <p:cNvPr id="23" name="Text 17"/>
          <p:cNvSpPr/>
          <p:nvPr/>
        </p:nvSpPr>
        <p:spPr>
          <a:xfrm>
            <a:off x="1020663" y="3888656"/>
            <a:ext cx="3112307" cy="4711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E5F"/>
                </a:solidFill>
                <a:latin typeface="Poppins" pitchFamily="34" charset="0"/>
                <a:ea typeface="Poppins" pitchFamily="34" charset="-122"/>
                <a:cs typeface="Poppins" pitchFamily="34" charset="-120"/>
              </a:rPr>
              <a:t>One cryptographic inventory, in one system.</a:t>
            </a:r>
            <a:endParaRPr lang="en-US" sz="1300" dirty="0"/>
          </a:p>
        </p:txBody>
      </p:sp>
      <p:sp>
        <p:nvSpPr>
          <p:cNvPr id="24" name="Shape 18"/>
          <p:cNvSpPr/>
          <p:nvPr/>
        </p:nvSpPr>
        <p:spPr>
          <a:xfrm>
            <a:off x="4380359" y="3290267"/>
            <a:ext cx="3431208" cy="1446361"/>
          </a:xfrm>
          <a:prstGeom prst="roundRect">
            <a:avLst>
              <a:gd name="adj" fmla="val 9439"/>
            </a:avLst>
          </a:prstGeom>
          <a:solidFill>
            <a:srgbClr val="FFFFFF"/>
          </a:solidFill>
          <a:ln w="6350">
            <a:solidFill>
              <a:srgbClr val="D5E3E1"/>
            </a:solidFill>
            <a:prstDash val="solid"/>
          </a:ln>
        </p:spPr>
      </p:sp>
      <p:sp>
        <p:nvSpPr>
          <p:cNvPr id="25" name="Shape 19"/>
          <p:cNvSpPr/>
          <p:nvPr/>
        </p:nvSpPr>
        <p:spPr>
          <a:xfrm>
            <a:off x="4585097" y="3469630"/>
            <a:ext cx="330175" cy="330175"/>
          </a:xfrm>
          <a:prstGeom prst="roundRect">
            <a:avLst>
              <a:gd name="adj" fmla="val 50000"/>
            </a:avLst>
          </a:prstGeom>
          <a:solidFill>
            <a:srgbClr val="0B6F6B"/>
          </a:solidFill>
          <a:ln/>
        </p:spPr>
      </p:sp>
      <p:pic>
        <p:nvPicPr>
          <p:cNvPr id="26" name="Image 4" descr="Trust">    </p:cNvPr>
          <p:cNvPicPr>
            <a:picLocks noChangeAspect="1"/>
          </p:cNvPicPr>
          <p:nvPr/>
        </p:nvPicPr>
        <p:blipFill>
          <a:blip r:embed="rId5"/>
          <a:srcRect l="0" r="0" t="0" b="0"/>
          <a:stretch/>
        </p:blipFill>
        <p:spPr>
          <a:xfrm>
            <a:off x="4654897" y="3539430"/>
            <a:ext cx="190500" cy="190500"/>
          </a:xfrm>
          <a:prstGeom prst="rect">
            <a:avLst/>
          </a:prstGeom>
        </p:spPr>
      </p:pic>
      <p:sp>
        <p:nvSpPr>
          <p:cNvPr id="27" name="Text 20"/>
          <p:cNvSpPr/>
          <p:nvPr/>
        </p:nvSpPr>
        <p:spPr>
          <a:xfrm>
            <a:off x="5029572" y="3525143"/>
            <a:ext cx="2654574"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0E1A1B"/>
                </a:solidFill>
                <a:latin typeface="Montserrat" pitchFamily="34" charset="0"/>
                <a:ea typeface="Montserrat" pitchFamily="34" charset="-122"/>
                <a:cs typeface="Montserrat" pitchFamily="34" charset="-120"/>
              </a:rPr>
              <a:t>Deans</a:t>
            </a:r>
            <a:endParaRPr lang="en-US" sz="1500" dirty="0"/>
          </a:p>
        </p:txBody>
      </p:sp>
      <p:sp>
        <p:nvSpPr>
          <p:cNvPr id="28" name="Text 21"/>
          <p:cNvSpPr/>
          <p:nvPr/>
        </p:nvSpPr>
        <p:spPr>
          <a:xfrm>
            <a:off x="4585097" y="3888656"/>
            <a:ext cx="3112384" cy="4711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E5F"/>
                </a:solidFill>
                <a:latin typeface="Poppins" pitchFamily="34" charset="0"/>
                <a:ea typeface="Poppins" pitchFamily="34" charset="-122"/>
                <a:cs typeface="Poppins" pitchFamily="34" charset="-120"/>
              </a:rPr>
              <a:t>One access agreement, in the university’s name.</a:t>
            </a:r>
            <a:endParaRPr lang="en-US" sz="1300" dirty="0"/>
          </a:p>
        </p:txBody>
      </p:sp>
      <p:sp>
        <p:nvSpPr>
          <p:cNvPr id="29" name="Shape 22"/>
          <p:cNvSpPr/>
          <p:nvPr/>
        </p:nvSpPr>
        <p:spPr>
          <a:xfrm>
            <a:off x="7944867" y="3290267"/>
            <a:ext cx="3431208" cy="1446361"/>
          </a:xfrm>
          <a:prstGeom prst="roundRect">
            <a:avLst>
              <a:gd name="adj" fmla="val 9439"/>
            </a:avLst>
          </a:prstGeom>
          <a:solidFill>
            <a:srgbClr val="07E3DC"/>
          </a:solidFill>
          <a:ln w="6350">
            <a:solidFill>
              <a:srgbClr val="07E3DC"/>
            </a:solidFill>
            <a:prstDash val="solid"/>
          </a:ln>
        </p:spPr>
      </p:sp>
      <p:sp>
        <p:nvSpPr>
          <p:cNvPr id="30" name="Shape 23"/>
          <p:cNvSpPr/>
          <p:nvPr/>
        </p:nvSpPr>
        <p:spPr>
          <a:xfrm>
            <a:off x="8149605" y="3469630"/>
            <a:ext cx="330175" cy="330175"/>
          </a:xfrm>
          <a:prstGeom prst="roundRect">
            <a:avLst>
              <a:gd name="adj" fmla="val 50000"/>
            </a:avLst>
          </a:prstGeom>
          <a:solidFill>
            <a:srgbClr val="0A1F20"/>
          </a:solidFill>
          <a:ln/>
        </p:spPr>
      </p:sp>
      <p:pic>
        <p:nvPicPr>
          <p:cNvPr id="31" name="Image 5" descr="PaperPlane">    </p:cNvPr>
          <p:cNvPicPr>
            <a:picLocks noChangeAspect="1"/>
          </p:cNvPicPr>
          <p:nvPr/>
        </p:nvPicPr>
        <p:blipFill>
          <a:blip r:embed="rId6"/>
          <a:srcRect l="0" r="0" t="0" b="0"/>
          <a:stretch/>
        </p:blipFill>
        <p:spPr>
          <a:xfrm>
            <a:off x="8219405" y="3539430"/>
            <a:ext cx="190500" cy="190500"/>
          </a:xfrm>
          <a:prstGeom prst="rect">
            <a:avLst/>
          </a:prstGeom>
        </p:spPr>
      </p:pic>
      <p:sp>
        <p:nvSpPr>
          <p:cNvPr id="32" name="Text 24"/>
          <p:cNvSpPr/>
          <p:nvPr/>
        </p:nvSpPr>
        <p:spPr>
          <a:xfrm>
            <a:off x="8594080" y="3525143"/>
            <a:ext cx="2654574"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0A1F20"/>
                </a:solidFill>
                <a:latin typeface="Montserrat" pitchFamily="34" charset="0"/>
                <a:ea typeface="Montserrat" pitchFamily="34" charset="-122"/>
                <a:cs typeface="Montserrat" pitchFamily="34" charset="-120"/>
              </a:rPr>
              <a:t>Everyone, tonight</a:t>
            </a:r>
            <a:endParaRPr lang="en-US" sz="1500" dirty="0"/>
          </a:p>
        </p:txBody>
      </p:sp>
      <p:sp>
        <p:nvSpPr>
          <p:cNvPr id="33" name="Text 25"/>
          <p:cNvSpPr/>
          <p:nvPr/>
        </p:nvSpPr>
        <p:spPr>
          <a:xfrm>
            <a:off x="8149605" y="3888656"/>
            <a:ext cx="3112384" cy="69401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A1F20"/>
                </a:solidFill>
                <a:latin typeface="Poppins" pitchFamily="34" charset="0"/>
                <a:ea typeface="Poppins" pitchFamily="34" charset="-122"/>
                <a:cs typeface="Poppins" pitchFamily="34" charset="-120"/>
              </a:rPr>
              <a:t>One line to collaborate@africaquantum.org. Reply in five working days.</a:t>
            </a:r>
            <a:endParaRPr lang="en-US" sz="1300" dirty="0"/>
          </a:p>
        </p:txBody>
      </p:sp>
      <p:sp>
        <p:nvSpPr>
          <p:cNvPr id="34" name="Text 26"/>
          <p:cNvSpPr/>
          <p:nvPr/>
        </p:nvSpPr>
        <p:spPr>
          <a:xfrm>
            <a:off x="812750" y="6217965"/>
            <a:ext cx="3612326"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E5F"/>
                </a:solidFill>
                <a:latin typeface="Poppins" pitchFamily="34" charset="0"/>
                <a:ea typeface="Poppins" pitchFamily="34" charset="-122"/>
                <a:cs typeface="Poppins" pitchFamily="34" charset="-120"/>
              </a:rPr>
              <a:t>Quantum in Africa · University of Ibadan</a:t>
            </a:r>
            <a:endParaRPr lang="en-US" sz="1200" dirty="0"/>
          </a:p>
        </p:txBody>
      </p:sp>
      <p:sp>
        <p:nvSpPr>
          <p:cNvPr id="35" name="Text 27"/>
          <p:cNvSpPr/>
          <p:nvPr/>
        </p:nvSpPr>
        <p:spPr>
          <a:xfrm>
            <a:off x="11230744" y="6217965"/>
            <a:ext cx="148357"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E5F"/>
                </a:solidFill>
                <a:latin typeface="Poppins" pitchFamily="34" charset="0"/>
                <a:ea typeface="Poppins" pitchFamily="34" charset="-122"/>
                <a:cs typeface="Poppi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C0C"/>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50C0C"/>
              </a:gs>
              <a:gs pos="55000">
                <a:srgbClr val="0A2A2B"/>
              </a:gs>
              <a:gs pos="100000">
                <a:srgbClr val="0F5A58"/>
              </a:gs>
            </a:gsLst>
            <a:lin ang="2700000" scaled="0"/>
          </a:gradFill>
          <a:ln/>
        </p:spPr>
      </p:sp>
      <p:sp>
        <p:nvSpPr>
          <p:cNvPr id="3" name="Text 1"/>
          <p:cNvSpPr/>
          <p:nvPr>
            <p:ph type="title"/>
          </p:nvPr>
        </p:nvSpPr>
        <p:spPr>
          <a:xfrm>
            <a:off x="812750" y="1206624"/>
            <a:ext cx="7717764" cy="2478980"/>
          </a:xfrm>
          <a:prstGeom prst="rect">
            <a:avLst/>
          </a:prstGeom>
          <a:noFill/>
          <a:ln/>
        </p:spPr>
        <p:txBody>
          <a:bodyPr wrap="square" lIns="0" tIns="0" rIns="0" bIns="0" rtlCol="0" anchor="t">
            <a:normAutofit/>
          </a:bodyPr>
          <a:lstStyle/>
          <a:p>
            <a:pPr algn="l" indent="0" marL="0">
              <a:lnSpc>
                <a:spcPts val="4830"/>
              </a:lnSpc>
              <a:buNone/>
            </a:pPr>
            <a:r>
              <a:rPr lang="en-US" sz="4600" b="1" i="0" dirty="0">
                <a:solidFill>
                  <a:srgbClr val="F4FAF9"/>
                </a:solidFill>
                <a:latin typeface="Montserrat" pitchFamily="34" charset="0"/>
                <a:ea typeface="Montserrat" pitchFamily="34" charset="-122"/>
                <a:cs typeface="Montserrat" pitchFamily="34" charset="-120"/>
              </a:rPr>
              <a:t>You do not need a machine to start. </a:t>
            </a:r>
            <a:r>
              <a:rPr lang="en-US" sz="4600" b="1" i="0" dirty="0">
                <a:solidFill>
                  <a:srgbClr val="07E3DC"/>
                </a:solidFill>
                <a:latin typeface="Montserrat" pitchFamily="34" charset="0"/>
                <a:ea typeface="Montserrat" pitchFamily="34" charset="-122"/>
                <a:cs typeface="Montserrat" pitchFamily="34" charset="-120"/>
              </a:rPr>
              <a:t>You need an owner and a date.</a:t>
            </a:r>
            <a:endParaRPr lang="en-US" sz="4600" dirty="0"/>
          </a:p>
        </p:txBody>
      </p:sp>
      <p:sp>
        <p:nvSpPr>
          <p:cNvPr id="4" name="Text 2"/>
          <p:cNvSpPr/>
          <p:nvPr/>
        </p:nvSpPr>
        <p:spPr>
          <a:xfrm>
            <a:off x="812750" y="3876080"/>
            <a:ext cx="7717764" cy="736501"/>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7E3DC"/>
                </a:solidFill>
                <a:latin typeface="Montserrat" pitchFamily="34" charset="0"/>
                <a:ea typeface="Montserrat" pitchFamily="34" charset="-122"/>
                <a:cs typeface="Montserrat" pitchFamily="34" charset="-120"/>
              </a:rPr>
              <a:t>We are taking on interns — forms.gle/vLVo8ysECsabsCXg7</a:t>
            </a:r>
            <a:endParaRPr lang="en-US" sz="2000" dirty="0"/>
          </a:p>
        </p:txBody>
      </p:sp>
      <p:sp>
        <p:nvSpPr>
          <p:cNvPr id="5" name="Text 3"/>
          <p:cNvSpPr/>
          <p:nvPr/>
        </p:nvSpPr>
        <p:spPr>
          <a:xfrm>
            <a:off x="812750" y="4663380"/>
            <a:ext cx="7717764" cy="327596"/>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4FAF9"/>
                </a:solidFill>
                <a:latin typeface="Montserrat" pitchFamily="34" charset="0"/>
                <a:ea typeface="Montserrat" pitchFamily="34" charset="-122"/>
                <a:cs typeface="Montserrat" pitchFamily="34" charset="-120"/>
              </a:rPr>
              <a:t>collaborate@africaquantum.org</a:t>
            </a:r>
            <a:endParaRPr lang="en-US" sz="1700" dirty="0"/>
          </a:p>
        </p:txBody>
      </p:sp>
      <p:sp>
        <p:nvSpPr>
          <p:cNvPr id="6" name="Text 4"/>
          <p:cNvSpPr/>
          <p:nvPr/>
        </p:nvSpPr>
        <p:spPr>
          <a:xfrm>
            <a:off x="812750" y="5181451"/>
            <a:ext cx="7717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C3C2"/>
                </a:solidFill>
                <a:latin typeface="Poppins" pitchFamily="34" charset="0"/>
                <a:ea typeface="Poppins" pitchFamily="34" charset="-122"/>
                <a:cs typeface="Poppins" pitchFamily="34" charset="-120"/>
              </a:rPr>
              <a:t>Capacity before capital. The community wrote this. A voice in the rules.</a:t>
            </a:r>
            <a:endParaRPr lang="en-US" sz="1500" dirty="0"/>
          </a:p>
        </p:txBody>
      </p:sp>
      <p:sp>
        <p:nvSpPr>
          <p:cNvPr id="7" name="Shape 5"/>
          <p:cNvSpPr/>
          <p:nvPr/>
        </p:nvSpPr>
        <p:spPr>
          <a:xfrm>
            <a:off x="8318450" y="2667000"/>
            <a:ext cx="2984450" cy="1600200"/>
          </a:xfrm>
          <a:prstGeom prst="roundRect">
            <a:avLst>
              <a:gd name="adj" fmla="val 11111"/>
            </a:avLst>
          </a:prstGeom>
          <a:solidFill>
            <a:srgbClr val="050C0C"/>
          </a:solidFill>
          <a:ln/>
        </p:spPr>
      </p:sp>
      <p:pic>
        <p:nvPicPr>
          <p:cNvPr id="8" name="Image 0" descr="Africa Quantum Consortium logo">    </p:cNvPr>
          <p:cNvPicPr>
            <a:picLocks noChangeAspect="1"/>
          </p:cNvPicPr>
          <p:nvPr/>
        </p:nvPicPr>
        <p:blipFill>
          <a:blip r:embed="rId1"/>
          <a:srcRect l="0" r="0" t="-108" b="-108"/>
          <a:stretch/>
        </p:blipFill>
        <p:spPr>
          <a:xfrm>
            <a:off x="8445401" y="2825725"/>
            <a:ext cx="2730475" cy="1282675"/>
          </a:xfrm>
          <a:prstGeom prst="rect">
            <a:avLst/>
          </a:prstGeom>
        </p:spPr>
      </p:pic>
      <p:sp>
        <p:nvSpPr>
          <p:cNvPr id="9" name="Text 6"/>
          <p:cNvSpPr/>
          <p:nvPr/>
        </p:nvSpPr>
        <p:spPr>
          <a:xfrm>
            <a:off x="812750" y="6217965"/>
            <a:ext cx="3739575" cy="2387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3C2"/>
                </a:solidFill>
                <a:latin typeface="Poppins" pitchFamily="34" charset="0"/>
                <a:ea typeface="Poppins" pitchFamily="34" charset="-122"/>
                <a:cs typeface="Poppins" pitchFamily="34" charset="-120"/>
              </a:rPr>
              <a:t>Forge local strength. Drive global impact.</a:t>
            </a:r>
            <a:endParaRPr lang="en-US" sz="1200" dirty="0"/>
          </a:p>
        </p:txBody>
      </p:sp>
      <p:sp>
        <p:nvSpPr>
          <p:cNvPr id="10" name="Text 7"/>
          <p:cNvSpPr/>
          <p:nvPr/>
        </p:nvSpPr>
        <p:spPr>
          <a:xfrm>
            <a:off x="11191900" y="6217965"/>
            <a:ext cx="187201" cy="23874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3C2"/>
                </a:solidFill>
                <a:latin typeface="Poppins" pitchFamily="34" charset="0"/>
                <a:ea typeface="Poppins" pitchFamily="34" charset="-122"/>
                <a:cs typeface="Poppins" pitchFamily="34" charset="-120"/>
              </a:rPr>
              <a:t>12</a:t>
            </a:r>
            <a:endParaRPr lang="en-US" sz="1200" dirty="0"/>
          </a:p>
        </p:txBody>
      </p:sp>
    </p:spTree>
  </p:cSld>
  <p:clrMapOvr>
    <a:masterClrMapping/>
  </p:clrMapOvr>
</p:sld>
</file>

<file path=ppt/theme/theme1.xml><?xml version="1.0" encoding="utf-8"?>
<a:theme xmlns:a="http://schemas.openxmlformats.org/drawingml/2006/main" name="Capability, Not Hardware — Quantum in Africa, University of Ibadan">
  <a:themeElements>
    <a:clrScheme name="Capability, Not Hardware — Quantum in Africa, University of Ibadan">
      <a:dk1>
        <a:srgbClr val="0E1A1B"/>
      </a:dk1>
      <a:lt1>
        <a:srgbClr val="F1F6F5"/>
      </a:lt1>
      <a:dk2>
        <a:srgbClr val="475152"/>
      </a:dk2>
      <a:lt2>
        <a:srgbClr val="DAE0DF"/>
      </a:lt2>
      <a:accent1>
        <a:srgbClr val="07E3DC"/>
      </a:accent1>
      <a:accent2>
        <a:srgbClr val="0B6F6B"/>
      </a:accent2>
      <a:accent3>
        <a:srgbClr val="0C3334"/>
      </a:accent3>
      <a:accent4>
        <a:srgbClr val="0F5A58"/>
      </a:accent4>
      <a:accent5>
        <a:srgbClr val="4A5E5F"/>
      </a:accent5>
      <a:accent6>
        <a:srgbClr val="143A3A"/>
      </a:accent6>
      <a:hlink>
        <a:srgbClr val="0563C1"/>
      </a:hlink>
      <a:folHlink>
        <a:srgbClr val="954F72"/>
      </a:folHlink>
    </a:clrScheme>
    <a:fontScheme name="Capability, Not Hardware — Quantum in Africa, University of Ibadan">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Capability, Not Hardware — Quantum in Africa, University of Ibadan</dc:title>
  <dc:subject/>
  <dc:creator/>
  <cp:lastModifiedBy/>
  <cp:revision>1</cp:revision>
  <dcterms:created xsi:type="dcterms:W3CDTF">2026-10-07T17:59:16Z</dcterms:created>
  <dcterms:modified xsi:type="dcterms:W3CDTF">2026-10-07T17:59:16Z</dcterms:modified>
</cp:coreProperties>
</file>